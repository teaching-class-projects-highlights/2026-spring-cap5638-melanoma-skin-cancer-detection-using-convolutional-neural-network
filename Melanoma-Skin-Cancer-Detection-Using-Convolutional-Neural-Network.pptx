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Raleway" pitchFamily="2" charset="0"/>
      <p:regular r:id="rId17"/>
      <p:bold r:id="rId18"/>
      <p:italic r:id="rId19"/>
      <p:boldItalic r:id="rId20"/>
    </p:embeddedFont>
    <p:embeddedFont>
      <p:font typeface="Raleway Light" pitchFamily="2" charset="0"/>
      <p:regular r:id="rId21"/>
      <p:italic r:id="rId22"/>
    </p:embeddedFont>
    <p:embeddedFont>
      <p:font typeface="Roboto" panose="02000000000000000000" pitchFamily="2"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9145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97393"/>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Melanoma-Skin Cancer Detection Using Convolutional Neural Network</a:t>
            </a:r>
            <a:endParaRPr lang="en-US" sz="4450" dirty="0"/>
          </a:p>
        </p:txBody>
      </p:sp>
      <p:sp>
        <p:nvSpPr>
          <p:cNvPr id="4" name="Text 1"/>
          <p:cNvSpPr/>
          <p:nvPr/>
        </p:nvSpPr>
        <p:spPr>
          <a:xfrm>
            <a:off x="793790" y="5172670"/>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Tanha Kabir Koly</a:t>
            </a:r>
            <a:endParaRPr lang="en-US" sz="1750" dirty="0"/>
          </a:p>
        </p:txBody>
      </p:sp>
      <p:sp>
        <p:nvSpPr>
          <p:cNvPr id="5" name="Shape 2"/>
          <p:cNvSpPr/>
          <p:nvPr/>
        </p:nvSpPr>
        <p:spPr>
          <a:xfrm>
            <a:off x="793790" y="5798344"/>
            <a:ext cx="1619012" cy="426244"/>
          </a:xfrm>
          <a:prstGeom prst="roundRect">
            <a:avLst>
              <a:gd name="adj" fmla="val 17880"/>
            </a:avLst>
          </a:prstGeom>
          <a:solidFill>
            <a:srgbClr val="E1E1EA"/>
          </a:solidFill>
          <a:ln/>
        </p:spPr>
      </p:sp>
      <p:sp>
        <p:nvSpPr>
          <p:cNvPr id="6" name="Text 3"/>
          <p:cNvSpPr/>
          <p:nvPr/>
        </p:nvSpPr>
        <p:spPr>
          <a:xfrm>
            <a:off x="929878" y="5866328"/>
            <a:ext cx="1346835" cy="290274"/>
          </a:xfrm>
          <a:prstGeom prst="rect">
            <a:avLst/>
          </a:prstGeom>
          <a:noFill/>
          <a:ln/>
        </p:spPr>
        <p:txBody>
          <a:bodyPr wrap="none" lIns="0" tIns="0" rIns="0" bIns="0" rtlCol="0" anchor="t"/>
          <a:lstStyle/>
          <a:p>
            <a:pPr marL="0" indent="0" algn="l">
              <a:lnSpc>
                <a:spcPts val="2250"/>
              </a:lnSpc>
              <a:buNone/>
            </a:pPr>
            <a:r>
              <a:rPr lang="en-US" sz="1400" dirty="0">
                <a:solidFill>
                  <a:srgbClr val="3C3939"/>
                </a:solidFill>
                <a:latin typeface="Roboto" pitchFamily="34" charset="0"/>
                <a:ea typeface="Roboto" pitchFamily="34" charset="-122"/>
                <a:cs typeface="Roboto" pitchFamily="34" charset="-120"/>
              </a:rPr>
              <a:t>DEEP LEARNING</a:t>
            </a:r>
            <a:endParaRPr lang="en-US" sz="1400" dirty="0"/>
          </a:p>
        </p:txBody>
      </p:sp>
      <p:sp>
        <p:nvSpPr>
          <p:cNvPr id="7" name="Shape 4"/>
          <p:cNvSpPr/>
          <p:nvPr/>
        </p:nvSpPr>
        <p:spPr>
          <a:xfrm>
            <a:off x="2526149" y="5790724"/>
            <a:ext cx="1848326" cy="441484"/>
          </a:xfrm>
          <a:prstGeom prst="roundRect">
            <a:avLst>
              <a:gd name="adj" fmla="val 17263"/>
            </a:avLst>
          </a:prstGeom>
          <a:noFill/>
          <a:ln w="7620">
            <a:solidFill>
              <a:srgbClr val="1B1B27"/>
            </a:solidFill>
            <a:prstDash val="solid"/>
          </a:ln>
        </p:spPr>
      </p:sp>
      <p:sp>
        <p:nvSpPr>
          <p:cNvPr id="8" name="Text 5"/>
          <p:cNvSpPr/>
          <p:nvPr/>
        </p:nvSpPr>
        <p:spPr>
          <a:xfrm>
            <a:off x="2669858" y="5866328"/>
            <a:ext cx="1560909" cy="290274"/>
          </a:xfrm>
          <a:prstGeom prst="rect">
            <a:avLst/>
          </a:prstGeom>
          <a:noFill/>
          <a:ln/>
        </p:spPr>
        <p:txBody>
          <a:bodyPr wrap="none" lIns="0" tIns="0" rIns="0" bIns="0" rtlCol="0" anchor="t"/>
          <a:lstStyle/>
          <a:p>
            <a:pPr marL="0" indent="0" algn="l">
              <a:lnSpc>
                <a:spcPts val="2250"/>
              </a:lnSpc>
              <a:buNone/>
            </a:pPr>
            <a:r>
              <a:rPr lang="en-US" sz="1400" dirty="0">
                <a:solidFill>
                  <a:srgbClr val="1B1B27"/>
                </a:solidFill>
                <a:latin typeface="Roboto" pitchFamily="34" charset="0"/>
                <a:ea typeface="Roboto" pitchFamily="34" charset="-122"/>
                <a:cs typeface="Roboto" pitchFamily="34" charset="-120"/>
              </a:rPr>
              <a:t>MEDICAL IMAGING</a:t>
            </a:r>
            <a:endParaRPr lang="en-US" sz="1400" dirty="0"/>
          </a:p>
        </p:txBody>
      </p:sp>
      <p:sp>
        <p:nvSpPr>
          <p:cNvPr id="9" name="Shape 6"/>
          <p:cNvSpPr/>
          <p:nvPr/>
        </p:nvSpPr>
        <p:spPr>
          <a:xfrm>
            <a:off x="4487823" y="5790724"/>
            <a:ext cx="1064419" cy="441484"/>
          </a:xfrm>
          <a:prstGeom prst="roundRect">
            <a:avLst>
              <a:gd name="adj" fmla="val 17263"/>
            </a:avLst>
          </a:prstGeom>
          <a:noFill/>
          <a:ln w="7620">
            <a:solidFill>
              <a:srgbClr val="1B1B27"/>
            </a:solidFill>
            <a:prstDash val="solid"/>
          </a:ln>
        </p:spPr>
      </p:sp>
      <p:sp>
        <p:nvSpPr>
          <p:cNvPr id="10" name="Text 7"/>
          <p:cNvSpPr/>
          <p:nvPr/>
        </p:nvSpPr>
        <p:spPr>
          <a:xfrm>
            <a:off x="4631531" y="5866328"/>
            <a:ext cx="777002" cy="290274"/>
          </a:xfrm>
          <a:prstGeom prst="rect">
            <a:avLst/>
          </a:prstGeom>
          <a:noFill/>
          <a:ln/>
        </p:spPr>
        <p:txBody>
          <a:bodyPr wrap="none" lIns="0" tIns="0" rIns="0" bIns="0" rtlCol="0" anchor="t"/>
          <a:lstStyle/>
          <a:p>
            <a:pPr marL="0" indent="0" algn="l">
              <a:lnSpc>
                <a:spcPts val="2250"/>
              </a:lnSpc>
              <a:buNone/>
            </a:pPr>
            <a:r>
              <a:rPr lang="en-US" sz="1400" dirty="0">
                <a:solidFill>
                  <a:srgbClr val="1B1B27"/>
                </a:solidFill>
                <a:latin typeface="Roboto" pitchFamily="34" charset="0"/>
                <a:ea typeface="Roboto" pitchFamily="34" charset="-122"/>
                <a:cs typeface="Roboto" pitchFamily="34" charset="-120"/>
              </a:rPr>
              <a:t>ISIC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1855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Introduction</a:t>
            </a:r>
            <a:endParaRPr lang="en-US" sz="4450" dirty="0"/>
          </a:p>
        </p:txBody>
      </p:sp>
      <p:sp>
        <p:nvSpPr>
          <p:cNvPr id="3" name="Text 1"/>
          <p:cNvSpPr/>
          <p:nvPr/>
        </p:nvSpPr>
        <p:spPr>
          <a:xfrm>
            <a:off x="793790" y="1980962"/>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Skin cancer, particularly </a:t>
            </a:r>
            <a:r>
              <a:rPr lang="en-US" sz="1750" b="1" dirty="0">
                <a:solidFill>
                  <a:srgbClr val="3C3939"/>
                </a:solidFill>
                <a:latin typeface="Roboto" pitchFamily="34" charset="0"/>
                <a:ea typeface="Roboto" pitchFamily="34" charset="-122"/>
                <a:cs typeface="Roboto" pitchFamily="34" charset="-120"/>
              </a:rPr>
              <a:t>melanoma</a:t>
            </a:r>
            <a:r>
              <a:rPr lang="en-US" sz="1750" dirty="0">
                <a:solidFill>
                  <a:srgbClr val="3C3939"/>
                </a:solidFill>
                <a:latin typeface="Roboto" pitchFamily="34" charset="0"/>
                <a:ea typeface="Roboto" pitchFamily="34" charset="-122"/>
                <a:cs typeface="Roboto" pitchFamily="34" charset="-120"/>
              </a:rPr>
              <a:t>, is one of the most dangerous forms of cancer due to its high potential for metastasis. Early detection is critical for improving survival rates. With the advancement of deep learning, automated melanoma detection using dermoscopic images has become an important research area.</a:t>
            </a:r>
            <a:endParaRPr lang="en-US" sz="1750" dirty="0"/>
          </a:p>
        </p:txBody>
      </p:sp>
      <p:sp>
        <p:nvSpPr>
          <p:cNvPr id="4" name="Text 2"/>
          <p:cNvSpPr/>
          <p:nvPr/>
        </p:nvSpPr>
        <p:spPr>
          <a:xfrm>
            <a:off x="793790" y="332482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This study focuses on developing and evaluating deep learning models for binary classification of melanoma vs non-melanoma using the ISIC dataset. The main challenges addressed in this work include:</a:t>
            </a:r>
            <a:endParaRPr lang="en-US" sz="1750" dirty="0"/>
          </a:p>
        </p:txBody>
      </p:sp>
      <p:sp>
        <p:nvSpPr>
          <p:cNvPr id="5" name="Shape 3"/>
          <p:cNvSpPr/>
          <p:nvPr/>
        </p:nvSpPr>
        <p:spPr>
          <a:xfrm>
            <a:off x="793790" y="4305776"/>
            <a:ext cx="4196358" cy="823198"/>
          </a:xfrm>
          <a:prstGeom prst="roundRect">
            <a:avLst>
              <a:gd name="adj" fmla="val 11573"/>
            </a:avLst>
          </a:prstGeom>
          <a:solidFill>
            <a:srgbClr val="E1E1EA"/>
          </a:solidFill>
          <a:ln w="7620">
            <a:solidFill>
              <a:srgbClr val="C7C7D0"/>
            </a:solidFill>
            <a:prstDash val="solid"/>
          </a:ln>
        </p:spPr>
      </p:sp>
      <p:sp>
        <p:nvSpPr>
          <p:cNvPr id="6" name="Text 4"/>
          <p:cNvSpPr/>
          <p:nvPr/>
        </p:nvSpPr>
        <p:spPr>
          <a:xfrm>
            <a:off x="1028224" y="4540210"/>
            <a:ext cx="3091101"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Raleway" pitchFamily="34" charset="0"/>
                <a:ea typeface="Raleway" pitchFamily="34" charset="-122"/>
                <a:cs typeface="Raleway" pitchFamily="34" charset="-120"/>
              </a:rPr>
              <a:t>🔬</a:t>
            </a:r>
            <a:r>
              <a:rPr lang="en-US" sz="2200" dirty="0">
                <a:solidFill>
                  <a:srgbClr val="3C3939"/>
                </a:solidFill>
                <a:latin typeface="Raleway" pitchFamily="34" charset="0"/>
                <a:ea typeface="Raleway" pitchFamily="34" charset="-122"/>
                <a:cs typeface="Raleway" pitchFamily="34" charset="-120"/>
              </a:rPr>
              <a:t> Limited Dataset Size</a:t>
            </a:r>
            <a:endParaRPr lang="en-US" sz="2200" dirty="0"/>
          </a:p>
        </p:txBody>
      </p:sp>
      <p:sp>
        <p:nvSpPr>
          <p:cNvPr id="7" name="Shape 5"/>
          <p:cNvSpPr/>
          <p:nvPr/>
        </p:nvSpPr>
        <p:spPr>
          <a:xfrm>
            <a:off x="5216962" y="4305776"/>
            <a:ext cx="4196358" cy="823198"/>
          </a:xfrm>
          <a:prstGeom prst="roundRect">
            <a:avLst>
              <a:gd name="adj" fmla="val 11573"/>
            </a:avLst>
          </a:prstGeom>
          <a:solidFill>
            <a:srgbClr val="E1E1EA"/>
          </a:solidFill>
          <a:ln w="7620">
            <a:solidFill>
              <a:srgbClr val="C7C7D0"/>
            </a:solidFill>
            <a:prstDash val="solid"/>
          </a:ln>
        </p:spPr>
      </p:sp>
      <p:sp>
        <p:nvSpPr>
          <p:cNvPr id="8" name="Text 6"/>
          <p:cNvSpPr/>
          <p:nvPr/>
        </p:nvSpPr>
        <p:spPr>
          <a:xfrm>
            <a:off x="5451396" y="4540210"/>
            <a:ext cx="3554492"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Raleway" pitchFamily="34" charset="0"/>
                <a:ea typeface="Raleway" pitchFamily="34" charset="-122"/>
                <a:cs typeface="Raleway" pitchFamily="34" charset="-120"/>
              </a:rPr>
              <a:t>⚖️</a:t>
            </a:r>
            <a:r>
              <a:rPr lang="en-US" sz="2200" dirty="0">
                <a:solidFill>
                  <a:srgbClr val="3C3939"/>
                </a:solidFill>
                <a:latin typeface="Raleway" pitchFamily="34" charset="0"/>
                <a:ea typeface="Raleway" pitchFamily="34" charset="-122"/>
                <a:cs typeface="Raleway" pitchFamily="34" charset="-120"/>
              </a:rPr>
              <a:t> Severe Class Imbalance</a:t>
            </a:r>
            <a:endParaRPr lang="en-US" sz="2200" dirty="0"/>
          </a:p>
        </p:txBody>
      </p:sp>
      <p:sp>
        <p:nvSpPr>
          <p:cNvPr id="9" name="Shape 7"/>
          <p:cNvSpPr/>
          <p:nvPr/>
        </p:nvSpPr>
        <p:spPr>
          <a:xfrm>
            <a:off x="9640133" y="4305776"/>
            <a:ext cx="4196358" cy="823198"/>
          </a:xfrm>
          <a:prstGeom prst="roundRect">
            <a:avLst>
              <a:gd name="adj" fmla="val 11573"/>
            </a:avLst>
          </a:prstGeom>
          <a:solidFill>
            <a:srgbClr val="E1E1EA"/>
          </a:solidFill>
          <a:ln w="7620">
            <a:solidFill>
              <a:srgbClr val="C7C7D0"/>
            </a:solidFill>
            <a:prstDash val="solid"/>
          </a:ln>
        </p:spPr>
      </p:sp>
      <p:sp>
        <p:nvSpPr>
          <p:cNvPr id="10" name="Text 8"/>
          <p:cNvSpPr/>
          <p:nvPr/>
        </p:nvSpPr>
        <p:spPr>
          <a:xfrm>
            <a:off x="9874568" y="4540210"/>
            <a:ext cx="3456742"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Raleway" pitchFamily="34" charset="0"/>
                <a:ea typeface="Raleway" pitchFamily="34" charset="-122"/>
                <a:cs typeface="Raleway" pitchFamily="34" charset="-120"/>
              </a:rPr>
              <a:t>🎯</a:t>
            </a:r>
            <a:r>
              <a:rPr lang="en-US" sz="2200" dirty="0">
                <a:solidFill>
                  <a:srgbClr val="3C3939"/>
                </a:solidFill>
                <a:latin typeface="Raleway" pitchFamily="34" charset="0"/>
                <a:ea typeface="Raleway" pitchFamily="34" charset="-122"/>
                <a:cs typeface="Raleway" pitchFamily="34" charset="-120"/>
              </a:rPr>
              <a:t> High Sensitivity (Recall)</a:t>
            </a:r>
            <a:endParaRPr lang="en-US" sz="2200" dirty="0"/>
          </a:p>
        </p:txBody>
      </p:sp>
      <p:sp>
        <p:nvSpPr>
          <p:cNvPr id="11" name="Text 9"/>
          <p:cNvSpPr/>
          <p:nvPr/>
        </p:nvSpPr>
        <p:spPr>
          <a:xfrm>
            <a:off x="793790" y="5469136"/>
            <a:ext cx="3300770" cy="354330"/>
          </a:xfrm>
          <a:prstGeom prst="rect">
            <a:avLst/>
          </a:prstGeom>
          <a:noFill/>
          <a:ln/>
        </p:spPr>
        <p:txBody>
          <a:bodyPr wrap="none" lIns="0" tIns="0" rIns="0" bIns="0" rtlCol="0" anchor="t"/>
          <a:lstStyle/>
          <a:p>
            <a:pPr marL="0" indent="0" algn="l">
              <a:lnSpc>
                <a:spcPts val="2750"/>
              </a:lnSpc>
              <a:buNone/>
            </a:pPr>
            <a:r>
              <a:rPr lang="en-US" sz="2200" dirty="0">
                <a:solidFill>
                  <a:srgbClr val="1B1B27"/>
                </a:solidFill>
                <a:latin typeface="Raleway" pitchFamily="34" charset="0"/>
                <a:ea typeface="Raleway" pitchFamily="34" charset="-122"/>
                <a:cs typeface="Raleway" pitchFamily="34" charset="-120"/>
              </a:rPr>
              <a:t>Applications of This Work</a:t>
            </a:r>
            <a:endParaRPr lang="en-US" sz="2200" dirty="0"/>
          </a:p>
        </p:txBody>
      </p:sp>
      <p:sp>
        <p:nvSpPr>
          <p:cNvPr id="12" name="Text 10"/>
          <p:cNvSpPr/>
          <p:nvPr/>
        </p:nvSpPr>
        <p:spPr>
          <a:xfrm>
            <a:off x="793790" y="6163628"/>
            <a:ext cx="1304282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Clinical decision support systems</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Automated screening tools</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Telemedicine applications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1485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Literature Review</a:t>
            </a:r>
            <a:endParaRPr lang="en-US" sz="4450" dirty="0"/>
          </a:p>
        </p:txBody>
      </p:sp>
      <p:sp>
        <p:nvSpPr>
          <p:cNvPr id="3" name="Text 1"/>
          <p:cNvSpPr/>
          <p:nvPr/>
        </p:nvSpPr>
        <p:spPr>
          <a:xfrm>
            <a:off x="793790" y="1877258"/>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Traditional image classification approaches relied on handcrafted features, which often failed to generalize well. With the introduction of </a:t>
            </a:r>
            <a:r>
              <a:rPr lang="en-US" sz="1750" b="1" dirty="0">
                <a:solidFill>
                  <a:srgbClr val="3C3939"/>
                </a:solidFill>
                <a:latin typeface="Roboto" pitchFamily="34" charset="0"/>
                <a:ea typeface="Roboto" pitchFamily="34" charset="-122"/>
                <a:cs typeface="Roboto" pitchFamily="34" charset="-120"/>
              </a:rPr>
              <a:t>Convolutional Neural Networks (CNNs)</a:t>
            </a:r>
            <a:r>
              <a:rPr lang="en-US" sz="1750" dirty="0">
                <a:solidFill>
                  <a:srgbClr val="3C3939"/>
                </a:solidFill>
                <a:latin typeface="Roboto" pitchFamily="34" charset="0"/>
                <a:ea typeface="Roboto" pitchFamily="34" charset="-122"/>
                <a:cs typeface="Roboto" pitchFamily="34" charset="-120"/>
              </a:rPr>
              <a:t>, automated feature extraction significantly improved performance in medical imaging.</a:t>
            </a:r>
            <a:endParaRPr lang="en-US" sz="1750" dirty="0"/>
          </a:p>
        </p:txBody>
      </p:sp>
      <p:sp>
        <p:nvSpPr>
          <p:cNvPr id="4" name="Text 2"/>
          <p:cNvSpPr/>
          <p:nvPr/>
        </p:nvSpPr>
        <p:spPr>
          <a:xfrm>
            <a:off x="793790" y="322111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Recent studies have shown that:</a:t>
            </a:r>
            <a:endParaRPr lang="en-US" sz="1750" dirty="0"/>
          </a:p>
        </p:txBody>
      </p:sp>
      <p:sp>
        <p:nvSpPr>
          <p:cNvPr id="5" name="Shape 3"/>
          <p:cNvSpPr/>
          <p:nvPr/>
        </p:nvSpPr>
        <p:spPr>
          <a:xfrm>
            <a:off x="793790" y="3839170"/>
            <a:ext cx="13042821" cy="1326713"/>
          </a:xfrm>
          <a:prstGeom prst="roundRect">
            <a:avLst>
              <a:gd name="adj" fmla="val 7181"/>
            </a:avLst>
          </a:prstGeom>
          <a:solidFill>
            <a:srgbClr val="B6D6FC"/>
          </a:solidFill>
          <a:ln/>
        </p:spPr>
      </p:sp>
      <p:pic>
        <p:nvPicPr>
          <p:cNvPr id="6" name="Image 0" descr="preencoded.png"/>
          <p:cNvPicPr>
            <a:picLocks noChangeAspect="1"/>
          </p:cNvPicPr>
          <p:nvPr/>
        </p:nvPicPr>
        <p:blipFill>
          <a:blip r:embed="rId3"/>
          <a:stretch>
            <a:fillRect/>
          </a:stretch>
        </p:blipFill>
        <p:spPr>
          <a:xfrm>
            <a:off x="1020604" y="4183261"/>
            <a:ext cx="283488" cy="226814"/>
          </a:xfrm>
          <a:prstGeom prst="rect">
            <a:avLst/>
          </a:prstGeom>
        </p:spPr>
      </p:pic>
      <p:sp>
        <p:nvSpPr>
          <p:cNvPr id="7" name="Text 4"/>
          <p:cNvSpPr/>
          <p:nvPr/>
        </p:nvSpPr>
        <p:spPr>
          <a:xfrm>
            <a:off x="1530906" y="4122658"/>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Roboto" pitchFamily="34" charset="0"/>
                <a:ea typeface="Roboto" pitchFamily="34" charset="-122"/>
                <a:cs typeface="Roboto" pitchFamily="34" charset="-120"/>
              </a:rPr>
              <a:t>EfficientNet</a:t>
            </a:r>
            <a:r>
              <a:rPr lang="en-US" sz="1750" dirty="0">
                <a:solidFill>
                  <a:srgbClr val="000000"/>
                </a:solidFill>
                <a:latin typeface="Roboto" pitchFamily="34" charset="0"/>
                <a:ea typeface="Roboto" pitchFamily="34" charset="-122"/>
                <a:cs typeface="Roboto" pitchFamily="34" charset="-120"/>
              </a:rPr>
              <a:t> has demonstrated superior performance due to its </a:t>
            </a:r>
            <a:r>
              <a:rPr lang="en-US" sz="1750" b="1" dirty="0">
                <a:solidFill>
                  <a:srgbClr val="000000"/>
                </a:solidFill>
                <a:latin typeface="Roboto" pitchFamily="34" charset="0"/>
                <a:ea typeface="Roboto" pitchFamily="34" charset="-122"/>
                <a:cs typeface="Roboto" pitchFamily="34" charset="-120"/>
              </a:rPr>
              <a:t>compound scaling approach</a:t>
            </a:r>
            <a:r>
              <a:rPr lang="en-US" sz="1750" dirty="0">
                <a:solidFill>
                  <a:srgbClr val="000000"/>
                </a:solidFill>
                <a:latin typeface="Roboto" pitchFamily="34" charset="0"/>
                <a:ea typeface="Roboto" pitchFamily="34" charset="-122"/>
                <a:cs typeface="Roboto" pitchFamily="34" charset="-120"/>
              </a:rPr>
              <a:t>, making it highly suitable for medical image classification tasks.</a:t>
            </a:r>
            <a:endParaRPr lang="en-US" sz="1750" dirty="0"/>
          </a:p>
        </p:txBody>
      </p:sp>
      <p:sp>
        <p:nvSpPr>
          <p:cNvPr id="8" name="Shape 5"/>
          <p:cNvSpPr/>
          <p:nvPr/>
        </p:nvSpPr>
        <p:spPr>
          <a:xfrm>
            <a:off x="793790" y="5421035"/>
            <a:ext cx="3090505" cy="2093714"/>
          </a:xfrm>
          <a:prstGeom prst="roundRect">
            <a:avLst>
              <a:gd name="adj" fmla="val 6988"/>
            </a:avLst>
          </a:prstGeom>
          <a:solidFill>
            <a:srgbClr val="FFFFFF">
              <a:alpha val="95000"/>
            </a:srgbClr>
          </a:solidFill>
          <a:ln w="30480">
            <a:solidFill>
              <a:srgbClr val="C7C7D0"/>
            </a:solidFill>
            <a:prstDash val="solid"/>
          </a:ln>
        </p:spPr>
      </p:sp>
      <p:sp>
        <p:nvSpPr>
          <p:cNvPr id="9" name="Shape 6"/>
          <p:cNvSpPr/>
          <p:nvPr/>
        </p:nvSpPr>
        <p:spPr>
          <a:xfrm>
            <a:off x="763310" y="5421035"/>
            <a:ext cx="121920" cy="2093714"/>
          </a:xfrm>
          <a:prstGeom prst="roundRect">
            <a:avLst>
              <a:gd name="adj" fmla="val 78139"/>
            </a:avLst>
          </a:prstGeom>
          <a:solidFill>
            <a:srgbClr val="1B1B27"/>
          </a:solidFill>
          <a:ln/>
        </p:spPr>
      </p:sp>
      <p:sp>
        <p:nvSpPr>
          <p:cNvPr id="10" name="Text 7"/>
          <p:cNvSpPr/>
          <p:nvPr/>
        </p:nvSpPr>
        <p:spPr>
          <a:xfrm>
            <a:off x="1142524" y="5678329"/>
            <a:ext cx="248447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Deep CNNs</a:t>
            </a:r>
            <a:endParaRPr lang="en-US" sz="2200" dirty="0"/>
          </a:p>
        </p:txBody>
      </p:sp>
      <p:sp>
        <p:nvSpPr>
          <p:cNvPr id="11" name="Text 8"/>
          <p:cNvSpPr/>
          <p:nvPr/>
        </p:nvSpPr>
        <p:spPr>
          <a:xfrm>
            <a:off x="1142524" y="6168747"/>
            <a:ext cx="2484477"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Outperform traditional methods</a:t>
            </a:r>
            <a:endParaRPr lang="en-US" sz="1750" dirty="0"/>
          </a:p>
        </p:txBody>
      </p:sp>
      <p:sp>
        <p:nvSpPr>
          <p:cNvPr id="12" name="Shape 9"/>
          <p:cNvSpPr/>
          <p:nvPr/>
        </p:nvSpPr>
        <p:spPr>
          <a:xfrm>
            <a:off x="4111109" y="5421035"/>
            <a:ext cx="3090624" cy="2093714"/>
          </a:xfrm>
          <a:prstGeom prst="roundRect">
            <a:avLst>
              <a:gd name="adj" fmla="val 6988"/>
            </a:avLst>
          </a:prstGeom>
          <a:solidFill>
            <a:srgbClr val="FFFFFF">
              <a:alpha val="95000"/>
            </a:srgbClr>
          </a:solidFill>
          <a:ln w="30480">
            <a:solidFill>
              <a:srgbClr val="C7C7D0"/>
            </a:solidFill>
            <a:prstDash val="solid"/>
          </a:ln>
        </p:spPr>
      </p:sp>
      <p:sp>
        <p:nvSpPr>
          <p:cNvPr id="13" name="Shape 10"/>
          <p:cNvSpPr/>
          <p:nvPr/>
        </p:nvSpPr>
        <p:spPr>
          <a:xfrm>
            <a:off x="4080629" y="5421035"/>
            <a:ext cx="121920" cy="2093714"/>
          </a:xfrm>
          <a:prstGeom prst="roundRect">
            <a:avLst>
              <a:gd name="adj" fmla="val 78139"/>
            </a:avLst>
          </a:prstGeom>
          <a:solidFill>
            <a:srgbClr val="1B1B27"/>
          </a:solidFill>
          <a:ln/>
        </p:spPr>
      </p:sp>
      <p:sp>
        <p:nvSpPr>
          <p:cNvPr id="14" name="Text 11"/>
          <p:cNvSpPr/>
          <p:nvPr/>
        </p:nvSpPr>
        <p:spPr>
          <a:xfrm>
            <a:off x="4459843" y="5678329"/>
            <a:ext cx="2484596"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Transfer Learning</a:t>
            </a:r>
            <a:endParaRPr lang="en-US" sz="2200" dirty="0"/>
          </a:p>
        </p:txBody>
      </p:sp>
      <p:sp>
        <p:nvSpPr>
          <p:cNvPr id="15" name="Text 12"/>
          <p:cNvSpPr/>
          <p:nvPr/>
        </p:nvSpPr>
        <p:spPr>
          <a:xfrm>
            <a:off x="4459843" y="6168747"/>
            <a:ext cx="2484596"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EfficientNet and ResNet improve performance on small datasets</a:t>
            </a:r>
            <a:endParaRPr lang="en-US" sz="1750" dirty="0"/>
          </a:p>
        </p:txBody>
      </p:sp>
      <p:sp>
        <p:nvSpPr>
          <p:cNvPr id="16" name="Shape 13"/>
          <p:cNvSpPr/>
          <p:nvPr/>
        </p:nvSpPr>
        <p:spPr>
          <a:xfrm>
            <a:off x="7428548" y="5421035"/>
            <a:ext cx="3090624" cy="2093714"/>
          </a:xfrm>
          <a:prstGeom prst="roundRect">
            <a:avLst>
              <a:gd name="adj" fmla="val 6988"/>
            </a:avLst>
          </a:prstGeom>
          <a:solidFill>
            <a:srgbClr val="FFFFFF">
              <a:alpha val="95000"/>
            </a:srgbClr>
          </a:solidFill>
          <a:ln w="30480">
            <a:solidFill>
              <a:srgbClr val="C7C7D0"/>
            </a:solidFill>
            <a:prstDash val="solid"/>
          </a:ln>
        </p:spPr>
      </p:sp>
      <p:sp>
        <p:nvSpPr>
          <p:cNvPr id="17" name="Shape 14"/>
          <p:cNvSpPr/>
          <p:nvPr/>
        </p:nvSpPr>
        <p:spPr>
          <a:xfrm>
            <a:off x="7398067" y="5421035"/>
            <a:ext cx="121920" cy="2093714"/>
          </a:xfrm>
          <a:prstGeom prst="roundRect">
            <a:avLst>
              <a:gd name="adj" fmla="val 78139"/>
            </a:avLst>
          </a:prstGeom>
          <a:solidFill>
            <a:srgbClr val="1B1B27"/>
          </a:solidFill>
          <a:ln/>
        </p:spPr>
      </p:sp>
      <p:sp>
        <p:nvSpPr>
          <p:cNvPr id="18" name="Text 15"/>
          <p:cNvSpPr/>
          <p:nvPr/>
        </p:nvSpPr>
        <p:spPr>
          <a:xfrm>
            <a:off x="7777282" y="5678329"/>
            <a:ext cx="2484596"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Class Imbalance</a:t>
            </a:r>
            <a:endParaRPr lang="en-US" sz="2200" dirty="0"/>
          </a:p>
        </p:txBody>
      </p:sp>
      <p:sp>
        <p:nvSpPr>
          <p:cNvPr id="19" name="Text 16"/>
          <p:cNvSpPr/>
          <p:nvPr/>
        </p:nvSpPr>
        <p:spPr>
          <a:xfrm>
            <a:off x="7777282" y="6168747"/>
            <a:ext cx="248459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 major issue in medical datasets</a:t>
            </a:r>
            <a:endParaRPr lang="en-US" sz="1750" dirty="0"/>
          </a:p>
        </p:txBody>
      </p:sp>
      <p:sp>
        <p:nvSpPr>
          <p:cNvPr id="20" name="Shape 17"/>
          <p:cNvSpPr/>
          <p:nvPr/>
        </p:nvSpPr>
        <p:spPr>
          <a:xfrm>
            <a:off x="10745986" y="5421035"/>
            <a:ext cx="3090624" cy="2093714"/>
          </a:xfrm>
          <a:prstGeom prst="roundRect">
            <a:avLst>
              <a:gd name="adj" fmla="val 6988"/>
            </a:avLst>
          </a:prstGeom>
          <a:solidFill>
            <a:srgbClr val="FFFFFF">
              <a:alpha val="95000"/>
            </a:srgbClr>
          </a:solidFill>
          <a:ln w="30480">
            <a:solidFill>
              <a:srgbClr val="C7C7D0"/>
            </a:solidFill>
            <a:prstDash val="solid"/>
          </a:ln>
        </p:spPr>
      </p:sp>
      <p:sp>
        <p:nvSpPr>
          <p:cNvPr id="21" name="Shape 18"/>
          <p:cNvSpPr/>
          <p:nvPr/>
        </p:nvSpPr>
        <p:spPr>
          <a:xfrm>
            <a:off x="10715506" y="5421035"/>
            <a:ext cx="121920" cy="2093714"/>
          </a:xfrm>
          <a:prstGeom prst="roundRect">
            <a:avLst>
              <a:gd name="adj" fmla="val 78139"/>
            </a:avLst>
          </a:prstGeom>
          <a:solidFill>
            <a:srgbClr val="1B1B27"/>
          </a:solidFill>
          <a:ln/>
        </p:spPr>
      </p:sp>
      <p:sp>
        <p:nvSpPr>
          <p:cNvPr id="22" name="Text 19"/>
          <p:cNvSpPr/>
          <p:nvPr/>
        </p:nvSpPr>
        <p:spPr>
          <a:xfrm>
            <a:off x="11094720" y="5678329"/>
            <a:ext cx="2484596" cy="708660"/>
          </a:xfrm>
          <a:prstGeom prst="rect">
            <a:avLst/>
          </a:prstGeom>
          <a:noFill/>
          <a:ln/>
        </p:spPr>
        <p:txBody>
          <a:bodyPr wrap="squar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Focal Loss &amp; Resampling</a:t>
            </a:r>
            <a:endParaRPr lang="en-US" sz="2200" dirty="0"/>
          </a:p>
        </p:txBody>
      </p:sp>
      <p:sp>
        <p:nvSpPr>
          <p:cNvPr id="23" name="Text 20"/>
          <p:cNvSpPr/>
          <p:nvPr/>
        </p:nvSpPr>
        <p:spPr>
          <a:xfrm>
            <a:off x="11094720" y="6523077"/>
            <a:ext cx="2484596"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Improve minority class detection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758" y="641628"/>
            <a:ext cx="5227558" cy="653415"/>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Raleway" pitchFamily="34" charset="0"/>
                <a:ea typeface="Raleway" pitchFamily="34" charset="-122"/>
                <a:cs typeface="Raleway" pitchFamily="34" charset="-120"/>
              </a:rPr>
              <a:t>Methodology</a:t>
            </a:r>
            <a:endParaRPr lang="en-US" sz="4100" dirty="0"/>
          </a:p>
        </p:txBody>
      </p:sp>
      <p:sp>
        <p:nvSpPr>
          <p:cNvPr id="3" name="Text 1"/>
          <p:cNvSpPr/>
          <p:nvPr/>
        </p:nvSpPr>
        <p:spPr>
          <a:xfrm>
            <a:off x="731758" y="1680567"/>
            <a:ext cx="13166884" cy="321350"/>
          </a:xfrm>
          <a:prstGeom prst="rect">
            <a:avLst/>
          </a:prstGeom>
          <a:noFill/>
          <a:ln/>
        </p:spPr>
        <p:txBody>
          <a:bodyPr wrap="none" lIns="0" tIns="0" rIns="0" bIns="0" rtlCol="0" anchor="t"/>
          <a:lstStyle/>
          <a:p>
            <a:pPr marL="0" indent="0" algn="l">
              <a:lnSpc>
                <a:spcPts val="2500"/>
              </a:lnSpc>
              <a:buNone/>
            </a:pPr>
            <a:r>
              <a:rPr lang="en-US" sz="1600" dirty="0">
                <a:solidFill>
                  <a:srgbClr val="3C3939"/>
                </a:solidFill>
                <a:latin typeface="Roboto" pitchFamily="34" charset="0"/>
                <a:ea typeface="Roboto" pitchFamily="34" charset="-122"/>
                <a:cs typeface="Roboto" pitchFamily="34" charset="-120"/>
              </a:rPr>
              <a:t>This study follows a </a:t>
            </a:r>
            <a:r>
              <a:rPr lang="en-US" sz="1600" b="1" dirty="0">
                <a:solidFill>
                  <a:srgbClr val="3C3939"/>
                </a:solidFill>
                <a:latin typeface="Roboto" pitchFamily="34" charset="0"/>
                <a:ea typeface="Roboto" pitchFamily="34" charset="-122"/>
                <a:cs typeface="Roboto" pitchFamily="34" charset="-120"/>
              </a:rPr>
              <a:t>progressive experimental approach</a:t>
            </a:r>
            <a:r>
              <a:rPr lang="en-US" sz="1600" dirty="0">
                <a:solidFill>
                  <a:srgbClr val="3C3939"/>
                </a:solidFill>
                <a:latin typeface="Roboto" pitchFamily="34" charset="0"/>
                <a:ea typeface="Roboto" pitchFamily="34" charset="-122"/>
                <a:cs typeface="Roboto" pitchFamily="34" charset="-120"/>
              </a:rPr>
              <a:t> with four models, each building upon the previous to address specific challenges.</a:t>
            </a:r>
            <a:endParaRPr lang="en-US" sz="1600" dirty="0"/>
          </a:p>
        </p:txBody>
      </p:sp>
      <p:sp>
        <p:nvSpPr>
          <p:cNvPr id="4" name="Shape 2"/>
          <p:cNvSpPr/>
          <p:nvPr/>
        </p:nvSpPr>
        <p:spPr>
          <a:xfrm>
            <a:off x="1045369" y="2741414"/>
            <a:ext cx="6173272" cy="209074"/>
          </a:xfrm>
          <a:prstGeom prst="roundRect">
            <a:avLst>
              <a:gd name="adj" fmla="val 42007"/>
            </a:avLst>
          </a:prstGeom>
          <a:solidFill>
            <a:srgbClr val="E1E1EA"/>
          </a:solidFill>
          <a:ln w="7620">
            <a:solidFill>
              <a:srgbClr val="C7C7D0"/>
            </a:solidFill>
            <a:prstDash val="solid"/>
          </a:ln>
        </p:spPr>
      </p:sp>
      <p:sp>
        <p:nvSpPr>
          <p:cNvPr id="5" name="Shape 3"/>
          <p:cNvSpPr/>
          <p:nvPr/>
        </p:nvSpPr>
        <p:spPr>
          <a:xfrm>
            <a:off x="731758" y="2532340"/>
            <a:ext cx="627221" cy="627221"/>
          </a:xfrm>
          <a:prstGeom prst="roundRect">
            <a:avLst>
              <a:gd name="adj" fmla="val 72893"/>
            </a:avLst>
          </a:prstGeom>
          <a:solidFill>
            <a:srgbClr val="E1E1EA"/>
          </a:solidFill>
          <a:ln w="7620">
            <a:solidFill>
              <a:srgbClr val="C7C7D0"/>
            </a:solidFill>
            <a:prstDash val="solid"/>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8563" y="2689146"/>
            <a:ext cx="313611" cy="313611"/>
          </a:xfrm>
          <a:prstGeom prst="rect">
            <a:avLst/>
          </a:prstGeom>
        </p:spPr>
      </p:pic>
      <p:sp>
        <p:nvSpPr>
          <p:cNvPr id="7" name="Text 4"/>
          <p:cNvSpPr/>
          <p:nvPr/>
        </p:nvSpPr>
        <p:spPr>
          <a:xfrm>
            <a:off x="940832" y="3352324"/>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Basic CNN Model</a:t>
            </a:r>
            <a:endParaRPr lang="en-US" sz="2050" dirty="0"/>
          </a:p>
        </p:txBody>
      </p:sp>
      <p:sp>
        <p:nvSpPr>
          <p:cNvPr id="8" name="Text 5"/>
          <p:cNvSpPr/>
          <p:nvPr/>
        </p:nvSpPr>
        <p:spPr>
          <a:xfrm>
            <a:off x="940832" y="3794522"/>
            <a:ext cx="6068854" cy="964049"/>
          </a:xfrm>
          <a:prstGeom prst="rect">
            <a:avLst/>
          </a:prstGeom>
          <a:noFill/>
          <a:ln/>
        </p:spPr>
        <p:txBody>
          <a:bodyPr wrap="square" lIns="0" tIns="0" rIns="0" bIns="0" rtlCol="0" anchor="t"/>
          <a:lstStyle/>
          <a:p>
            <a:pPr marL="0" indent="0" algn="l">
              <a:lnSpc>
                <a:spcPts val="2500"/>
              </a:lnSpc>
              <a:buNone/>
            </a:pPr>
            <a:r>
              <a:rPr lang="en-US" sz="1600" dirty="0">
                <a:solidFill>
                  <a:srgbClr val="3C3939"/>
                </a:solidFill>
                <a:latin typeface="Roboto" pitchFamily="34" charset="0"/>
                <a:ea typeface="Roboto" pitchFamily="34" charset="-122"/>
                <a:cs typeface="Roboto" pitchFamily="34" charset="-120"/>
              </a:rPr>
              <a:t>A simple CNN with 3 convolutional layers, max pooling layers, and fully connected dense layers — serves as a baseline without transfer learning.</a:t>
            </a:r>
            <a:endParaRPr lang="en-US" sz="1600" dirty="0"/>
          </a:p>
        </p:txBody>
      </p:sp>
      <p:sp>
        <p:nvSpPr>
          <p:cNvPr id="9" name="Shape 6"/>
          <p:cNvSpPr/>
          <p:nvPr/>
        </p:nvSpPr>
        <p:spPr>
          <a:xfrm>
            <a:off x="7725132" y="2427803"/>
            <a:ext cx="6173391" cy="209074"/>
          </a:xfrm>
          <a:prstGeom prst="roundRect">
            <a:avLst>
              <a:gd name="adj" fmla="val 42007"/>
            </a:avLst>
          </a:prstGeom>
          <a:solidFill>
            <a:srgbClr val="E1E1EA"/>
          </a:solidFill>
          <a:ln w="7620">
            <a:solidFill>
              <a:srgbClr val="C7C7D0"/>
            </a:solidFill>
            <a:prstDash val="solid"/>
          </a:ln>
        </p:spPr>
      </p:sp>
      <p:sp>
        <p:nvSpPr>
          <p:cNvPr id="10" name="Shape 7"/>
          <p:cNvSpPr/>
          <p:nvPr/>
        </p:nvSpPr>
        <p:spPr>
          <a:xfrm>
            <a:off x="7411522" y="2218730"/>
            <a:ext cx="627221" cy="627221"/>
          </a:xfrm>
          <a:prstGeom prst="roundRect">
            <a:avLst>
              <a:gd name="adj" fmla="val 72893"/>
            </a:avLst>
          </a:prstGeom>
          <a:solidFill>
            <a:srgbClr val="E1E1EA"/>
          </a:solidFill>
          <a:ln w="7620">
            <a:solidFill>
              <a:srgbClr val="C7C7D0"/>
            </a:solidFill>
            <a:prstDash val="solid"/>
          </a:ln>
        </p:spPr>
      </p:sp>
      <p:pic>
        <p:nvPicPr>
          <p:cNvPr id="11"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568327" y="2375535"/>
            <a:ext cx="313611" cy="313611"/>
          </a:xfrm>
          <a:prstGeom prst="rect">
            <a:avLst/>
          </a:prstGeom>
        </p:spPr>
      </p:pic>
      <p:sp>
        <p:nvSpPr>
          <p:cNvPr id="12" name="Text 8"/>
          <p:cNvSpPr/>
          <p:nvPr/>
        </p:nvSpPr>
        <p:spPr>
          <a:xfrm>
            <a:off x="7620595" y="3038713"/>
            <a:ext cx="4483179" cy="326588"/>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Transfer Learning with EfficientNetB0</a:t>
            </a:r>
            <a:endParaRPr lang="en-US" sz="2050" dirty="0"/>
          </a:p>
        </p:txBody>
      </p:sp>
      <p:sp>
        <p:nvSpPr>
          <p:cNvPr id="13" name="Text 9"/>
          <p:cNvSpPr/>
          <p:nvPr/>
        </p:nvSpPr>
        <p:spPr>
          <a:xfrm>
            <a:off x="7620595" y="3480911"/>
            <a:ext cx="6068973" cy="964049"/>
          </a:xfrm>
          <a:prstGeom prst="rect">
            <a:avLst/>
          </a:prstGeom>
          <a:noFill/>
          <a:ln/>
        </p:spPr>
        <p:txBody>
          <a:bodyPr wrap="square" lIns="0" tIns="0" rIns="0" bIns="0" rtlCol="0" anchor="t"/>
          <a:lstStyle/>
          <a:p>
            <a:pPr marL="0" indent="0" algn="l">
              <a:lnSpc>
                <a:spcPts val="2500"/>
              </a:lnSpc>
              <a:buNone/>
            </a:pPr>
            <a:r>
              <a:rPr lang="en-US" sz="1600" dirty="0">
                <a:solidFill>
                  <a:srgbClr val="3C3939"/>
                </a:solidFill>
                <a:latin typeface="Roboto" pitchFamily="34" charset="0"/>
                <a:ea typeface="Roboto" pitchFamily="34" charset="-122"/>
                <a:cs typeface="Roboto" pitchFamily="34" charset="-120"/>
              </a:rPr>
              <a:t>A pretrained EfficientNetB0 model (pretrained on ImageNet) used as a feature extractor with frozen layers and a custom classification head.</a:t>
            </a:r>
            <a:endParaRPr lang="en-US" sz="1600" dirty="0"/>
          </a:p>
        </p:txBody>
      </p:sp>
      <p:sp>
        <p:nvSpPr>
          <p:cNvPr id="14" name="Shape 10"/>
          <p:cNvSpPr/>
          <p:nvPr/>
        </p:nvSpPr>
        <p:spPr>
          <a:xfrm>
            <a:off x="1045369" y="5683091"/>
            <a:ext cx="6173272" cy="209074"/>
          </a:xfrm>
          <a:prstGeom prst="roundRect">
            <a:avLst>
              <a:gd name="adj" fmla="val 42007"/>
            </a:avLst>
          </a:prstGeom>
          <a:solidFill>
            <a:srgbClr val="E1E1EA"/>
          </a:solidFill>
          <a:ln w="7620">
            <a:solidFill>
              <a:srgbClr val="C7C7D0"/>
            </a:solidFill>
            <a:prstDash val="solid"/>
          </a:ln>
        </p:spPr>
      </p:sp>
      <p:sp>
        <p:nvSpPr>
          <p:cNvPr id="15" name="Shape 11"/>
          <p:cNvSpPr/>
          <p:nvPr/>
        </p:nvSpPr>
        <p:spPr>
          <a:xfrm>
            <a:off x="731758" y="5474018"/>
            <a:ext cx="627221" cy="627221"/>
          </a:xfrm>
          <a:prstGeom prst="roundRect">
            <a:avLst>
              <a:gd name="adj" fmla="val 72893"/>
            </a:avLst>
          </a:prstGeom>
          <a:solidFill>
            <a:srgbClr val="E1E1EA"/>
          </a:solidFill>
          <a:ln w="7620">
            <a:solidFill>
              <a:srgbClr val="C7C7D0"/>
            </a:solidFill>
            <a:prstDash val="solid"/>
          </a:ln>
        </p:spPr>
      </p:sp>
      <p:pic>
        <p:nvPicPr>
          <p:cNvPr id="16"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888563" y="5630823"/>
            <a:ext cx="313611" cy="313611"/>
          </a:xfrm>
          <a:prstGeom prst="rect">
            <a:avLst/>
          </a:prstGeom>
        </p:spPr>
      </p:pic>
      <p:sp>
        <p:nvSpPr>
          <p:cNvPr id="17" name="Text 12"/>
          <p:cNvSpPr/>
          <p:nvPr/>
        </p:nvSpPr>
        <p:spPr>
          <a:xfrm>
            <a:off x="940832" y="6294001"/>
            <a:ext cx="5981700" cy="326588"/>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Fine-Tuning + Focal Loss + Threshold Optimization</a:t>
            </a:r>
            <a:endParaRPr lang="en-US" sz="2050" dirty="0"/>
          </a:p>
        </p:txBody>
      </p:sp>
      <p:sp>
        <p:nvSpPr>
          <p:cNvPr id="18" name="Text 13"/>
          <p:cNvSpPr/>
          <p:nvPr/>
        </p:nvSpPr>
        <p:spPr>
          <a:xfrm>
            <a:off x="940832" y="6736199"/>
            <a:ext cx="6068854" cy="642699"/>
          </a:xfrm>
          <a:prstGeom prst="rect">
            <a:avLst/>
          </a:prstGeom>
          <a:noFill/>
          <a:ln/>
        </p:spPr>
        <p:txBody>
          <a:bodyPr wrap="square" lIns="0" tIns="0" rIns="0" bIns="0" rtlCol="0" anchor="t"/>
          <a:lstStyle/>
          <a:p>
            <a:pPr marL="0" indent="0" algn="l">
              <a:lnSpc>
                <a:spcPts val="2500"/>
              </a:lnSpc>
              <a:buNone/>
            </a:pPr>
            <a:r>
              <a:rPr lang="en-US" sz="1600" dirty="0">
                <a:solidFill>
                  <a:srgbClr val="3C3939"/>
                </a:solidFill>
                <a:latin typeface="Roboto" pitchFamily="34" charset="0"/>
                <a:ea typeface="Roboto" pitchFamily="34" charset="-122"/>
                <a:cs typeface="Roboto" pitchFamily="34" charset="-120"/>
              </a:rPr>
              <a:t>Enhancements include fine-tuning of top layers, focal loss to address class imbalance, and threshold tuning using F1-score.</a:t>
            </a:r>
            <a:endParaRPr lang="en-US" sz="1600" dirty="0"/>
          </a:p>
        </p:txBody>
      </p:sp>
      <p:sp>
        <p:nvSpPr>
          <p:cNvPr id="19" name="Shape 14"/>
          <p:cNvSpPr/>
          <p:nvPr/>
        </p:nvSpPr>
        <p:spPr>
          <a:xfrm>
            <a:off x="7725132" y="5369481"/>
            <a:ext cx="6173391" cy="209074"/>
          </a:xfrm>
          <a:prstGeom prst="roundRect">
            <a:avLst>
              <a:gd name="adj" fmla="val 42007"/>
            </a:avLst>
          </a:prstGeom>
          <a:solidFill>
            <a:srgbClr val="E1E1EA"/>
          </a:solidFill>
          <a:ln w="7620">
            <a:solidFill>
              <a:srgbClr val="C7C7D0"/>
            </a:solidFill>
            <a:prstDash val="solid"/>
          </a:ln>
        </p:spPr>
      </p:sp>
      <p:sp>
        <p:nvSpPr>
          <p:cNvPr id="20" name="Shape 15"/>
          <p:cNvSpPr/>
          <p:nvPr/>
        </p:nvSpPr>
        <p:spPr>
          <a:xfrm>
            <a:off x="7411522" y="5160407"/>
            <a:ext cx="627221" cy="627221"/>
          </a:xfrm>
          <a:prstGeom prst="roundRect">
            <a:avLst>
              <a:gd name="adj" fmla="val 72893"/>
            </a:avLst>
          </a:prstGeom>
          <a:solidFill>
            <a:srgbClr val="E1E1EA"/>
          </a:solidFill>
          <a:ln w="7620">
            <a:solidFill>
              <a:srgbClr val="C7C7D0"/>
            </a:solidFill>
            <a:prstDash val="solid"/>
          </a:ln>
        </p:spPr>
      </p:sp>
      <p:pic>
        <p:nvPicPr>
          <p:cNvPr id="21"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568327" y="5317212"/>
            <a:ext cx="313611" cy="313611"/>
          </a:xfrm>
          <a:prstGeom prst="rect">
            <a:avLst/>
          </a:prstGeom>
        </p:spPr>
      </p:pic>
      <p:sp>
        <p:nvSpPr>
          <p:cNvPr id="22" name="Text 16"/>
          <p:cNvSpPr/>
          <p:nvPr/>
        </p:nvSpPr>
        <p:spPr>
          <a:xfrm>
            <a:off x="7620595" y="5980390"/>
            <a:ext cx="4968240" cy="326588"/>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Oversampling + Fine-Tuning (Final Model)</a:t>
            </a:r>
            <a:endParaRPr lang="en-US" sz="2050" dirty="0"/>
          </a:p>
        </p:txBody>
      </p:sp>
      <p:sp>
        <p:nvSpPr>
          <p:cNvPr id="23" name="Text 17"/>
          <p:cNvSpPr/>
          <p:nvPr/>
        </p:nvSpPr>
        <p:spPr>
          <a:xfrm>
            <a:off x="7620595" y="6422588"/>
            <a:ext cx="6068973" cy="642699"/>
          </a:xfrm>
          <a:prstGeom prst="rect">
            <a:avLst/>
          </a:prstGeom>
          <a:noFill/>
          <a:ln/>
        </p:spPr>
        <p:txBody>
          <a:bodyPr wrap="square" lIns="0" tIns="0" rIns="0" bIns="0" rtlCol="0" anchor="t"/>
          <a:lstStyle/>
          <a:p>
            <a:pPr marL="0" indent="0" algn="l">
              <a:lnSpc>
                <a:spcPts val="2500"/>
              </a:lnSpc>
              <a:buNone/>
            </a:pPr>
            <a:r>
              <a:rPr lang="en-US" sz="1600" dirty="0">
                <a:solidFill>
                  <a:srgbClr val="3C3939"/>
                </a:solidFill>
                <a:latin typeface="Roboto" pitchFamily="34" charset="0"/>
                <a:ea typeface="Roboto" pitchFamily="34" charset="-122"/>
                <a:cs typeface="Roboto" pitchFamily="34" charset="-120"/>
              </a:rPr>
              <a:t>Further improvements: oversampling minority class (melanoma), fine-tuning EfficientNet, and enhanced augmentation.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06993" y="583287"/>
            <a:ext cx="5050393" cy="631269"/>
          </a:xfrm>
          <a:prstGeom prst="rect">
            <a:avLst/>
          </a:prstGeom>
          <a:noFill/>
          <a:ln/>
        </p:spPr>
        <p:txBody>
          <a:bodyPr wrap="none" lIns="0" tIns="0" rIns="0" bIns="0" rtlCol="0" anchor="t"/>
          <a:lstStyle/>
          <a:p>
            <a:pPr marL="0" indent="0" algn="l">
              <a:lnSpc>
                <a:spcPts val="4950"/>
              </a:lnSpc>
              <a:buNone/>
            </a:pPr>
            <a:r>
              <a:rPr lang="en-US" sz="3950" dirty="0">
                <a:solidFill>
                  <a:srgbClr val="1B1B27"/>
                </a:solidFill>
                <a:latin typeface="Raleway" pitchFamily="34" charset="0"/>
                <a:ea typeface="Raleway" pitchFamily="34" charset="-122"/>
                <a:cs typeface="Raleway" pitchFamily="34" charset="-120"/>
              </a:rPr>
              <a:t>Implementation</a:t>
            </a:r>
            <a:endParaRPr lang="en-US" sz="3950" dirty="0"/>
          </a:p>
        </p:txBody>
      </p:sp>
      <p:sp>
        <p:nvSpPr>
          <p:cNvPr id="3" name="Text 1"/>
          <p:cNvSpPr/>
          <p:nvPr/>
        </p:nvSpPr>
        <p:spPr>
          <a:xfrm>
            <a:off x="706993" y="1286470"/>
            <a:ext cx="2856309" cy="315635"/>
          </a:xfrm>
          <a:prstGeom prst="rect">
            <a:avLst/>
          </a:prstGeom>
          <a:noFill/>
          <a:ln/>
        </p:spPr>
        <p:txBody>
          <a:bodyPr wrap="none" lIns="0" tIns="0" rIns="0" bIns="0" rtlCol="0" anchor="t"/>
          <a:lstStyle/>
          <a:p>
            <a:pPr marL="0" indent="0" algn="l">
              <a:lnSpc>
                <a:spcPts val="2450"/>
              </a:lnSpc>
              <a:buNone/>
            </a:pPr>
            <a:r>
              <a:rPr lang="en-US" sz="1950" dirty="0">
                <a:solidFill>
                  <a:srgbClr val="1B1B27"/>
                </a:solidFill>
                <a:latin typeface="Raleway" pitchFamily="34" charset="0"/>
                <a:ea typeface="Raleway" pitchFamily="34" charset="-122"/>
                <a:cs typeface="Raleway" pitchFamily="34" charset="-120"/>
              </a:rPr>
              <a:t>Dataset &amp; Preprocessing</a:t>
            </a:r>
            <a:endParaRPr lang="en-US" sz="1950" dirty="0"/>
          </a:p>
        </p:txBody>
      </p:sp>
      <p:sp>
        <p:nvSpPr>
          <p:cNvPr id="4" name="Text 2"/>
          <p:cNvSpPr/>
          <p:nvPr/>
        </p:nvSpPr>
        <p:spPr>
          <a:xfrm>
            <a:off x="706993" y="1871901"/>
            <a:ext cx="13216414" cy="1410653"/>
          </a:xfrm>
          <a:prstGeom prst="rect">
            <a:avLst/>
          </a:prstGeom>
          <a:noFill/>
          <a:ln/>
        </p:spPr>
        <p:txBody>
          <a:bodyPr wrap="square" lIns="0" tIns="0" rIns="0" bIns="0" rtlCol="0" anchor="t"/>
          <a:lstStyle/>
          <a:p>
            <a:pPr marL="342900" indent="-342900" algn="l">
              <a:lnSpc>
                <a:spcPts val="2400"/>
              </a:lnSpc>
              <a:buSzPct val="100000"/>
              <a:buChar char="•"/>
            </a:pPr>
            <a:r>
              <a:rPr lang="en-US" sz="1550" b="1" dirty="0">
                <a:solidFill>
                  <a:srgbClr val="3C3939"/>
                </a:solidFill>
                <a:latin typeface="Roboto" pitchFamily="34" charset="0"/>
                <a:ea typeface="Roboto" pitchFamily="34" charset="-122"/>
                <a:cs typeface="Roboto" pitchFamily="34" charset="-120"/>
              </a:rPr>
              <a:t>ISIC dataset</a:t>
            </a:r>
            <a:r>
              <a:rPr lang="en-US" sz="1550" dirty="0">
                <a:solidFill>
                  <a:srgbClr val="3C3939"/>
                </a:solidFill>
                <a:latin typeface="Roboto" pitchFamily="34" charset="0"/>
                <a:ea typeface="Roboto" pitchFamily="34" charset="-122"/>
                <a:cs typeface="Roboto" pitchFamily="34" charset="-120"/>
              </a:rPr>
              <a:t> — Binary classification: melanoma vs non-melanoma</a:t>
            </a:r>
            <a:endParaRPr lang="en-US" sz="1550" dirty="0"/>
          </a:p>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Image resizing (224–300)</a:t>
            </a:r>
            <a:endParaRPr lang="en-US" sz="1550" dirty="0"/>
          </a:p>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Normalization</a:t>
            </a:r>
            <a:endParaRPr lang="en-US" sz="1550" dirty="0"/>
          </a:p>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Data augmentation: flipping, brightness/contrast adjustment, saturation variation</a:t>
            </a:r>
            <a:endParaRPr lang="en-US" sz="1550" dirty="0"/>
          </a:p>
        </p:txBody>
      </p:sp>
      <p:sp>
        <p:nvSpPr>
          <p:cNvPr id="5" name="Text 3"/>
          <p:cNvSpPr/>
          <p:nvPr/>
        </p:nvSpPr>
        <p:spPr>
          <a:xfrm>
            <a:off x="706993" y="3552349"/>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1B1B27"/>
                </a:solidFill>
                <a:latin typeface="Raleway" pitchFamily="34" charset="0"/>
                <a:ea typeface="Raleway" pitchFamily="34" charset="-122"/>
                <a:cs typeface="Raleway" pitchFamily="34" charset="-120"/>
              </a:rPr>
              <a:t>Training Strategy</a:t>
            </a:r>
            <a:endParaRPr lang="en-US" sz="1950" dirty="0"/>
          </a:p>
        </p:txBody>
      </p:sp>
      <p:sp>
        <p:nvSpPr>
          <p:cNvPr id="6" name="Text 4"/>
          <p:cNvSpPr/>
          <p:nvPr/>
        </p:nvSpPr>
        <p:spPr>
          <a:xfrm>
            <a:off x="706993" y="4137779"/>
            <a:ext cx="13216414" cy="1410653"/>
          </a:xfrm>
          <a:prstGeom prst="rect">
            <a:avLst/>
          </a:prstGeom>
          <a:noFill/>
          <a:ln/>
        </p:spPr>
        <p:txBody>
          <a:bodyPr wrap="square" lIns="0" tIns="0" rIns="0" bIns="0" rtlCol="0" anchor="t"/>
          <a:lstStyle/>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Batch size: 16–32</a:t>
            </a:r>
            <a:endParaRPr lang="en-US" sz="1550" dirty="0"/>
          </a:p>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Optimizer: Adam</a:t>
            </a:r>
            <a:endParaRPr lang="en-US" sz="1550" dirty="0"/>
          </a:p>
          <a:p>
            <a:pPr marL="342900" indent="-342900" algn="l">
              <a:lnSpc>
                <a:spcPts val="2400"/>
              </a:lnSpc>
              <a:buSzPct val="100000"/>
              <a:buChar char="•"/>
            </a:pPr>
            <a:r>
              <a:rPr lang="en-US" sz="1550" dirty="0">
                <a:solidFill>
                  <a:srgbClr val="3C3939"/>
                </a:solidFill>
                <a:latin typeface="Roboto" pitchFamily="34" charset="0"/>
                <a:ea typeface="Roboto" pitchFamily="34" charset="-122"/>
                <a:cs typeface="Roboto" pitchFamily="34" charset="-120"/>
              </a:rPr>
              <a:t>Early stopping and learning rate reduction</a:t>
            </a:r>
            <a:endParaRPr lang="en-US" sz="1550" dirty="0"/>
          </a:p>
          <a:p>
            <a:pPr marL="342900" indent="-342900" algn="l">
              <a:lnSpc>
                <a:spcPts val="2400"/>
              </a:lnSpc>
              <a:buSzPct val="100000"/>
              <a:buChar char="•"/>
            </a:pPr>
            <a:r>
              <a:rPr lang="en-US" sz="1550" b="1" dirty="0">
                <a:solidFill>
                  <a:srgbClr val="3C3939"/>
                </a:solidFill>
                <a:latin typeface="Roboto" pitchFamily="34" charset="0"/>
                <a:ea typeface="Roboto" pitchFamily="34" charset="-122"/>
                <a:cs typeface="Roboto" pitchFamily="34" charset="-120"/>
              </a:rPr>
              <a:t>Two-stage training:</a:t>
            </a:r>
            <a:r>
              <a:rPr lang="en-US" sz="1550" dirty="0">
                <a:solidFill>
                  <a:srgbClr val="3C3939"/>
                </a:solidFill>
                <a:latin typeface="Roboto" pitchFamily="34" charset="0"/>
                <a:ea typeface="Roboto" pitchFamily="34" charset="-122"/>
                <a:cs typeface="Roboto" pitchFamily="34" charset="-120"/>
              </a:rPr>
              <a:t> Stage 1 (frozen backbone) → Stage 2 (fine-tuning)</a:t>
            </a:r>
            <a:endParaRPr lang="en-US" sz="1550" dirty="0"/>
          </a:p>
        </p:txBody>
      </p:sp>
      <p:sp>
        <p:nvSpPr>
          <p:cNvPr id="7" name="Text 5"/>
          <p:cNvSpPr/>
          <p:nvPr/>
        </p:nvSpPr>
        <p:spPr>
          <a:xfrm>
            <a:off x="706993" y="5818227"/>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1B1B27"/>
                </a:solidFill>
                <a:latin typeface="Raleway" pitchFamily="34" charset="0"/>
                <a:ea typeface="Raleway" pitchFamily="34" charset="-122"/>
                <a:cs typeface="Raleway" pitchFamily="34" charset="-120"/>
              </a:rPr>
              <a:t>Evaluation Metrics</a:t>
            </a:r>
            <a:endParaRPr lang="en-US" sz="1950" dirty="0"/>
          </a:p>
        </p:txBody>
      </p:sp>
      <p:sp>
        <p:nvSpPr>
          <p:cNvPr id="8" name="Text 6"/>
          <p:cNvSpPr/>
          <p:nvPr/>
        </p:nvSpPr>
        <p:spPr>
          <a:xfrm>
            <a:off x="706993" y="6403658"/>
            <a:ext cx="13216414" cy="305514"/>
          </a:xfrm>
          <a:prstGeom prst="rect">
            <a:avLst/>
          </a:prstGeom>
          <a:noFill/>
          <a:ln/>
        </p:spPr>
        <p:txBody>
          <a:bodyPr wrap="none" lIns="0" tIns="0" rIns="0" bIns="0" rtlCol="0" anchor="t"/>
          <a:lstStyle/>
          <a:p>
            <a:pPr marL="0" indent="0" algn="l">
              <a:lnSpc>
                <a:spcPts val="2400"/>
              </a:lnSpc>
              <a:buNone/>
            </a:pPr>
            <a:r>
              <a:rPr lang="en-US" sz="1550" dirty="0">
                <a:solidFill>
                  <a:srgbClr val="3C3939"/>
                </a:solidFill>
                <a:latin typeface="Roboto" pitchFamily="34" charset="0"/>
                <a:ea typeface="Roboto" pitchFamily="34" charset="-122"/>
                <a:cs typeface="Roboto" pitchFamily="34" charset="-120"/>
              </a:rPr>
              <a:t>Confusion matrix and Precision-Recall curve were also used for comprehensive evaluation.</a:t>
            </a:r>
            <a:endParaRPr lang="en-US" sz="1550" dirty="0"/>
          </a:p>
        </p:txBody>
      </p:sp>
      <p:sp>
        <p:nvSpPr>
          <p:cNvPr id="9" name="Shape 7"/>
          <p:cNvSpPr/>
          <p:nvPr/>
        </p:nvSpPr>
        <p:spPr>
          <a:xfrm>
            <a:off x="706993" y="6911578"/>
            <a:ext cx="13216414" cy="734735"/>
          </a:xfrm>
          <a:prstGeom prst="roundRect">
            <a:avLst>
              <a:gd name="adj" fmla="val 11548"/>
            </a:avLst>
          </a:prstGeom>
          <a:solidFill>
            <a:srgbClr val="E1E1EA"/>
          </a:solidFill>
          <a:ln w="7620">
            <a:solidFill>
              <a:srgbClr val="C7C7D0"/>
            </a:solidFill>
            <a:prstDash val="solid"/>
          </a:ln>
        </p:spPr>
      </p:sp>
      <p:sp>
        <p:nvSpPr>
          <p:cNvPr id="10" name="Shape 8"/>
          <p:cNvSpPr/>
          <p:nvPr/>
        </p:nvSpPr>
        <p:spPr>
          <a:xfrm>
            <a:off x="714613" y="6919198"/>
            <a:ext cx="3300293" cy="719495"/>
          </a:xfrm>
          <a:prstGeom prst="roundRect">
            <a:avLst>
              <a:gd name="adj" fmla="val 11793"/>
            </a:avLst>
          </a:prstGeom>
          <a:solidFill>
            <a:srgbClr val="E1E1EA"/>
          </a:solidFill>
          <a:ln/>
        </p:spPr>
      </p:sp>
      <p:sp>
        <p:nvSpPr>
          <p:cNvPr id="11" name="Text 9"/>
          <p:cNvSpPr/>
          <p:nvPr/>
        </p:nvSpPr>
        <p:spPr>
          <a:xfrm>
            <a:off x="916543" y="7121128"/>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Accuracy</a:t>
            </a:r>
            <a:endParaRPr lang="en-US" sz="1950" dirty="0"/>
          </a:p>
        </p:txBody>
      </p:sp>
      <p:sp>
        <p:nvSpPr>
          <p:cNvPr id="12" name="Shape 10"/>
          <p:cNvSpPr/>
          <p:nvPr/>
        </p:nvSpPr>
        <p:spPr>
          <a:xfrm>
            <a:off x="4014907" y="6919198"/>
            <a:ext cx="3300293" cy="719495"/>
          </a:xfrm>
          <a:prstGeom prst="rect">
            <a:avLst/>
          </a:prstGeom>
          <a:solidFill>
            <a:srgbClr val="E1E1EA"/>
          </a:solidFill>
          <a:ln/>
        </p:spPr>
      </p:sp>
      <p:sp>
        <p:nvSpPr>
          <p:cNvPr id="13" name="Shape 11"/>
          <p:cNvSpPr/>
          <p:nvPr/>
        </p:nvSpPr>
        <p:spPr>
          <a:xfrm>
            <a:off x="4014907" y="6919198"/>
            <a:ext cx="22860" cy="719495"/>
          </a:xfrm>
          <a:prstGeom prst="roundRect">
            <a:avLst>
              <a:gd name="adj" fmla="val 371163"/>
            </a:avLst>
          </a:prstGeom>
          <a:solidFill>
            <a:srgbClr val="C7C7D0"/>
          </a:solidFill>
          <a:ln/>
        </p:spPr>
      </p:sp>
      <p:sp>
        <p:nvSpPr>
          <p:cNvPr id="14" name="Text 12"/>
          <p:cNvSpPr/>
          <p:nvPr/>
        </p:nvSpPr>
        <p:spPr>
          <a:xfrm>
            <a:off x="4216837" y="7121128"/>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ROC-AUC</a:t>
            </a:r>
            <a:endParaRPr lang="en-US" sz="1950" dirty="0"/>
          </a:p>
        </p:txBody>
      </p:sp>
      <p:sp>
        <p:nvSpPr>
          <p:cNvPr id="15" name="Shape 13"/>
          <p:cNvSpPr/>
          <p:nvPr/>
        </p:nvSpPr>
        <p:spPr>
          <a:xfrm>
            <a:off x="7315200" y="6919198"/>
            <a:ext cx="3300293" cy="719495"/>
          </a:xfrm>
          <a:prstGeom prst="rect">
            <a:avLst/>
          </a:prstGeom>
          <a:solidFill>
            <a:srgbClr val="E1E1EA"/>
          </a:solidFill>
          <a:ln/>
        </p:spPr>
      </p:sp>
      <p:sp>
        <p:nvSpPr>
          <p:cNvPr id="16" name="Shape 14"/>
          <p:cNvSpPr/>
          <p:nvPr/>
        </p:nvSpPr>
        <p:spPr>
          <a:xfrm>
            <a:off x="7315200" y="6919198"/>
            <a:ext cx="22860" cy="719495"/>
          </a:xfrm>
          <a:prstGeom prst="roundRect">
            <a:avLst>
              <a:gd name="adj" fmla="val 371163"/>
            </a:avLst>
          </a:prstGeom>
          <a:solidFill>
            <a:srgbClr val="C7C7D0"/>
          </a:solidFill>
          <a:ln/>
        </p:spPr>
      </p:sp>
      <p:sp>
        <p:nvSpPr>
          <p:cNvPr id="17" name="Text 15"/>
          <p:cNvSpPr/>
          <p:nvPr/>
        </p:nvSpPr>
        <p:spPr>
          <a:xfrm>
            <a:off x="7517130" y="7121128"/>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Precision / Recall</a:t>
            </a:r>
            <a:endParaRPr lang="en-US" sz="1950" dirty="0"/>
          </a:p>
        </p:txBody>
      </p:sp>
      <p:sp>
        <p:nvSpPr>
          <p:cNvPr id="18" name="Shape 16"/>
          <p:cNvSpPr/>
          <p:nvPr/>
        </p:nvSpPr>
        <p:spPr>
          <a:xfrm>
            <a:off x="10615493" y="6919198"/>
            <a:ext cx="3300293" cy="719495"/>
          </a:xfrm>
          <a:prstGeom prst="rect">
            <a:avLst/>
          </a:prstGeom>
          <a:solidFill>
            <a:srgbClr val="E1E1EA"/>
          </a:solidFill>
          <a:ln/>
        </p:spPr>
      </p:sp>
      <p:sp>
        <p:nvSpPr>
          <p:cNvPr id="19" name="Shape 17"/>
          <p:cNvSpPr/>
          <p:nvPr/>
        </p:nvSpPr>
        <p:spPr>
          <a:xfrm>
            <a:off x="10615493" y="6919198"/>
            <a:ext cx="22860" cy="719495"/>
          </a:xfrm>
          <a:prstGeom prst="roundRect">
            <a:avLst>
              <a:gd name="adj" fmla="val 371163"/>
            </a:avLst>
          </a:prstGeom>
          <a:solidFill>
            <a:srgbClr val="C7C7D0"/>
          </a:solidFill>
          <a:ln/>
        </p:spPr>
      </p:sp>
      <p:sp>
        <p:nvSpPr>
          <p:cNvPr id="20" name="Text 18"/>
          <p:cNvSpPr/>
          <p:nvPr/>
        </p:nvSpPr>
        <p:spPr>
          <a:xfrm>
            <a:off x="10817423" y="7121128"/>
            <a:ext cx="2525197" cy="31563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F1-Score</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201460" y="541972"/>
            <a:ext cx="4430197" cy="553760"/>
          </a:xfrm>
          <a:prstGeom prst="rect">
            <a:avLst/>
          </a:prstGeom>
          <a:noFill/>
          <a:ln/>
        </p:spPr>
        <p:txBody>
          <a:bodyPr wrap="none" lIns="0" tIns="0" rIns="0" bIns="0" rtlCol="0" anchor="t"/>
          <a:lstStyle/>
          <a:p>
            <a:pPr marL="0" indent="0" algn="l">
              <a:lnSpc>
                <a:spcPts val="4350"/>
              </a:lnSpc>
              <a:buNone/>
            </a:pPr>
            <a:r>
              <a:rPr lang="en-US" sz="3450" dirty="0">
                <a:solidFill>
                  <a:srgbClr val="1B1B27"/>
                </a:solidFill>
                <a:latin typeface="Raleway" pitchFamily="34" charset="0"/>
                <a:ea typeface="Raleway" pitchFamily="34" charset="-122"/>
                <a:cs typeface="Raleway" pitchFamily="34" charset="-120"/>
              </a:rPr>
              <a:t>Experimental Results</a:t>
            </a:r>
            <a:endParaRPr lang="en-US" sz="3450" dirty="0"/>
          </a:p>
        </p:txBody>
      </p:sp>
      <p:sp>
        <p:nvSpPr>
          <p:cNvPr id="3" name="Text 1"/>
          <p:cNvSpPr/>
          <p:nvPr/>
        </p:nvSpPr>
        <p:spPr>
          <a:xfrm>
            <a:off x="1201460" y="1372553"/>
            <a:ext cx="1222736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Performance comparison across all four models on the ISIC dataset.</a:t>
            </a:r>
            <a:endParaRPr lang="en-US" sz="1350" dirty="0"/>
          </a:p>
        </p:txBody>
      </p:sp>
      <p:sp>
        <p:nvSpPr>
          <p:cNvPr id="4" name="Shape 2"/>
          <p:cNvSpPr/>
          <p:nvPr/>
        </p:nvSpPr>
        <p:spPr>
          <a:xfrm>
            <a:off x="1201460" y="1780699"/>
            <a:ext cx="12227362" cy="2183368"/>
          </a:xfrm>
          <a:prstGeom prst="roundRect">
            <a:avLst>
              <a:gd name="adj" fmla="val 3409"/>
            </a:avLst>
          </a:prstGeom>
          <a:noFill/>
          <a:ln w="7620">
            <a:solidFill>
              <a:srgbClr val="000000">
                <a:alpha val="8000"/>
              </a:srgbClr>
            </a:solidFill>
            <a:prstDash val="solid"/>
          </a:ln>
        </p:spPr>
      </p:sp>
      <p:sp>
        <p:nvSpPr>
          <p:cNvPr id="5" name="Shape 3"/>
          <p:cNvSpPr/>
          <p:nvPr/>
        </p:nvSpPr>
        <p:spPr>
          <a:xfrm>
            <a:off x="1209080" y="1788319"/>
            <a:ext cx="12212122" cy="433626"/>
          </a:xfrm>
          <a:prstGeom prst="rect">
            <a:avLst/>
          </a:prstGeom>
          <a:solidFill>
            <a:srgbClr val="FFFFFF">
              <a:alpha val="4000"/>
            </a:srgbClr>
          </a:solidFill>
          <a:ln/>
        </p:spPr>
      </p:sp>
      <p:sp>
        <p:nvSpPr>
          <p:cNvPr id="6" name="Text 4"/>
          <p:cNvSpPr/>
          <p:nvPr/>
        </p:nvSpPr>
        <p:spPr>
          <a:xfrm>
            <a:off x="1386483" y="1878925"/>
            <a:ext cx="3061216"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Model</a:t>
            </a:r>
            <a:endParaRPr lang="en-US" sz="1350" dirty="0"/>
          </a:p>
        </p:txBody>
      </p:sp>
      <p:sp>
        <p:nvSpPr>
          <p:cNvPr id="7" name="Text 5"/>
          <p:cNvSpPr/>
          <p:nvPr/>
        </p:nvSpPr>
        <p:spPr>
          <a:xfrm>
            <a:off x="4809649" y="1878925"/>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Accuracy</a:t>
            </a:r>
            <a:endParaRPr lang="en-US" sz="1350" dirty="0"/>
          </a:p>
        </p:txBody>
      </p:sp>
      <p:sp>
        <p:nvSpPr>
          <p:cNvPr id="8" name="Text 6"/>
          <p:cNvSpPr/>
          <p:nvPr/>
        </p:nvSpPr>
        <p:spPr>
          <a:xfrm>
            <a:off x="7007781" y="1878925"/>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AUC</a:t>
            </a:r>
            <a:endParaRPr lang="en-US" sz="1350" dirty="0"/>
          </a:p>
        </p:txBody>
      </p:sp>
      <p:sp>
        <p:nvSpPr>
          <p:cNvPr id="9" name="Text 7"/>
          <p:cNvSpPr/>
          <p:nvPr/>
        </p:nvSpPr>
        <p:spPr>
          <a:xfrm>
            <a:off x="9205913" y="1878925"/>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Recall (Melanoma)</a:t>
            </a:r>
            <a:endParaRPr lang="en-US" sz="1350" dirty="0"/>
          </a:p>
        </p:txBody>
      </p:sp>
      <p:sp>
        <p:nvSpPr>
          <p:cNvPr id="10" name="Text 8"/>
          <p:cNvSpPr/>
          <p:nvPr/>
        </p:nvSpPr>
        <p:spPr>
          <a:xfrm>
            <a:off x="11404044" y="1878925"/>
            <a:ext cx="183999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Precision (Melanoma)</a:t>
            </a:r>
            <a:endParaRPr lang="en-US" sz="1350" dirty="0"/>
          </a:p>
        </p:txBody>
      </p:sp>
      <p:sp>
        <p:nvSpPr>
          <p:cNvPr id="11" name="Shape 9"/>
          <p:cNvSpPr/>
          <p:nvPr/>
        </p:nvSpPr>
        <p:spPr>
          <a:xfrm>
            <a:off x="1209080" y="2221944"/>
            <a:ext cx="12212122" cy="433626"/>
          </a:xfrm>
          <a:prstGeom prst="rect">
            <a:avLst/>
          </a:prstGeom>
          <a:solidFill>
            <a:srgbClr val="000000">
              <a:alpha val="4000"/>
            </a:srgbClr>
          </a:solidFill>
          <a:ln/>
        </p:spPr>
      </p:sp>
      <p:sp>
        <p:nvSpPr>
          <p:cNvPr id="12" name="Text 10"/>
          <p:cNvSpPr/>
          <p:nvPr/>
        </p:nvSpPr>
        <p:spPr>
          <a:xfrm>
            <a:off x="1386483" y="2312551"/>
            <a:ext cx="306121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Basic CNN</a:t>
            </a:r>
            <a:endParaRPr lang="en-US" sz="1350" dirty="0"/>
          </a:p>
        </p:txBody>
      </p:sp>
      <p:sp>
        <p:nvSpPr>
          <p:cNvPr id="13" name="Text 11"/>
          <p:cNvSpPr/>
          <p:nvPr/>
        </p:nvSpPr>
        <p:spPr>
          <a:xfrm>
            <a:off x="4809649" y="2312551"/>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Low</a:t>
            </a:r>
            <a:endParaRPr lang="en-US" sz="1350" dirty="0"/>
          </a:p>
        </p:txBody>
      </p:sp>
      <p:sp>
        <p:nvSpPr>
          <p:cNvPr id="14" name="Text 12"/>
          <p:cNvSpPr/>
          <p:nvPr/>
        </p:nvSpPr>
        <p:spPr>
          <a:xfrm>
            <a:off x="7007781" y="2312551"/>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Low</a:t>
            </a:r>
            <a:endParaRPr lang="en-US" sz="1350" dirty="0"/>
          </a:p>
        </p:txBody>
      </p:sp>
      <p:sp>
        <p:nvSpPr>
          <p:cNvPr id="15" name="Text 13"/>
          <p:cNvSpPr/>
          <p:nvPr/>
        </p:nvSpPr>
        <p:spPr>
          <a:xfrm>
            <a:off x="9205913" y="2312551"/>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Low</a:t>
            </a:r>
            <a:endParaRPr lang="en-US" sz="1350" dirty="0"/>
          </a:p>
        </p:txBody>
      </p:sp>
      <p:sp>
        <p:nvSpPr>
          <p:cNvPr id="16" name="Text 14"/>
          <p:cNvSpPr/>
          <p:nvPr/>
        </p:nvSpPr>
        <p:spPr>
          <a:xfrm>
            <a:off x="11404044" y="2312551"/>
            <a:ext cx="183999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Low</a:t>
            </a:r>
            <a:endParaRPr lang="en-US" sz="1350" dirty="0"/>
          </a:p>
        </p:txBody>
      </p:sp>
      <p:sp>
        <p:nvSpPr>
          <p:cNvPr id="17" name="Shape 15"/>
          <p:cNvSpPr/>
          <p:nvPr/>
        </p:nvSpPr>
        <p:spPr>
          <a:xfrm>
            <a:off x="1209080" y="2655570"/>
            <a:ext cx="12212122" cy="433626"/>
          </a:xfrm>
          <a:prstGeom prst="rect">
            <a:avLst/>
          </a:prstGeom>
          <a:solidFill>
            <a:srgbClr val="FFFFFF">
              <a:alpha val="4000"/>
            </a:srgbClr>
          </a:solidFill>
          <a:ln/>
        </p:spPr>
      </p:sp>
      <p:sp>
        <p:nvSpPr>
          <p:cNvPr id="18" name="Text 16"/>
          <p:cNvSpPr/>
          <p:nvPr/>
        </p:nvSpPr>
        <p:spPr>
          <a:xfrm>
            <a:off x="1386483" y="2746177"/>
            <a:ext cx="306121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EfficientNet</a:t>
            </a:r>
            <a:endParaRPr lang="en-US" sz="1350" dirty="0"/>
          </a:p>
        </p:txBody>
      </p:sp>
      <p:sp>
        <p:nvSpPr>
          <p:cNvPr id="19" name="Text 17"/>
          <p:cNvSpPr/>
          <p:nvPr/>
        </p:nvSpPr>
        <p:spPr>
          <a:xfrm>
            <a:off x="4809649" y="2746177"/>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71.33%</a:t>
            </a:r>
            <a:endParaRPr lang="en-US" sz="1350" dirty="0"/>
          </a:p>
        </p:txBody>
      </p:sp>
      <p:sp>
        <p:nvSpPr>
          <p:cNvPr id="20" name="Text 18"/>
          <p:cNvSpPr/>
          <p:nvPr/>
        </p:nvSpPr>
        <p:spPr>
          <a:xfrm>
            <a:off x="7007781" y="2746177"/>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0.74</a:t>
            </a:r>
            <a:endParaRPr lang="en-US" sz="1350" dirty="0"/>
          </a:p>
        </p:txBody>
      </p:sp>
      <p:sp>
        <p:nvSpPr>
          <p:cNvPr id="21" name="Text 19"/>
          <p:cNvSpPr/>
          <p:nvPr/>
        </p:nvSpPr>
        <p:spPr>
          <a:xfrm>
            <a:off x="9205913" y="2746177"/>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53.33%</a:t>
            </a:r>
            <a:endParaRPr lang="en-US" sz="1350" dirty="0"/>
          </a:p>
        </p:txBody>
      </p:sp>
      <p:sp>
        <p:nvSpPr>
          <p:cNvPr id="22" name="Text 20"/>
          <p:cNvSpPr/>
          <p:nvPr/>
        </p:nvSpPr>
        <p:spPr>
          <a:xfrm>
            <a:off x="11404044" y="2746177"/>
            <a:ext cx="183999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35.56%</a:t>
            </a:r>
            <a:endParaRPr lang="en-US" sz="1350" dirty="0"/>
          </a:p>
        </p:txBody>
      </p:sp>
      <p:sp>
        <p:nvSpPr>
          <p:cNvPr id="23" name="Shape 21"/>
          <p:cNvSpPr/>
          <p:nvPr/>
        </p:nvSpPr>
        <p:spPr>
          <a:xfrm>
            <a:off x="1209080" y="3089196"/>
            <a:ext cx="12212122" cy="433626"/>
          </a:xfrm>
          <a:prstGeom prst="rect">
            <a:avLst/>
          </a:prstGeom>
          <a:solidFill>
            <a:srgbClr val="000000">
              <a:alpha val="4000"/>
            </a:srgbClr>
          </a:solidFill>
          <a:ln/>
        </p:spPr>
      </p:sp>
      <p:sp>
        <p:nvSpPr>
          <p:cNvPr id="24" name="Text 22"/>
          <p:cNvSpPr/>
          <p:nvPr/>
        </p:nvSpPr>
        <p:spPr>
          <a:xfrm>
            <a:off x="1386483" y="3179802"/>
            <a:ext cx="306121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Fine-tuned + Focal Loss</a:t>
            </a:r>
            <a:endParaRPr lang="en-US" sz="1350" dirty="0"/>
          </a:p>
        </p:txBody>
      </p:sp>
      <p:sp>
        <p:nvSpPr>
          <p:cNvPr id="25" name="Text 23"/>
          <p:cNvSpPr/>
          <p:nvPr/>
        </p:nvSpPr>
        <p:spPr>
          <a:xfrm>
            <a:off x="4809649" y="3179802"/>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71.33%</a:t>
            </a:r>
            <a:endParaRPr lang="en-US" sz="1350" dirty="0"/>
          </a:p>
        </p:txBody>
      </p:sp>
      <p:sp>
        <p:nvSpPr>
          <p:cNvPr id="26" name="Text 24"/>
          <p:cNvSpPr/>
          <p:nvPr/>
        </p:nvSpPr>
        <p:spPr>
          <a:xfrm>
            <a:off x="7007781" y="3179802"/>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0.75</a:t>
            </a:r>
            <a:endParaRPr lang="en-US" sz="1350" dirty="0"/>
          </a:p>
        </p:txBody>
      </p:sp>
      <p:sp>
        <p:nvSpPr>
          <p:cNvPr id="27" name="Text 25"/>
          <p:cNvSpPr/>
          <p:nvPr/>
        </p:nvSpPr>
        <p:spPr>
          <a:xfrm>
            <a:off x="9205913" y="3179802"/>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86.67%</a:t>
            </a:r>
            <a:endParaRPr lang="en-US" sz="1350" dirty="0"/>
          </a:p>
        </p:txBody>
      </p:sp>
      <p:sp>
        <p:nvSpPr>
          <p:cNvPr id="28" name="Text 26"/>
          <p:cNvSpPr/>
          <p:nvPr/>
        </p:nvSpPr>
        <p:spPr>
          <a:xfrm>
            <a:off x="11404044" y="3179802"/>
            <a:ext cx="183999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40.00%</a:t>
            </a:r>
            <a:endParaRPr lang="en-US" sz="1350" dirty="0"/>
          </a:p>
        </p:txBody>
      </p:sp>
      <p:sp>
        <p:nvSpPr>
          <p:cNvPr id="29" name="Shape 27"/>
          <p:cNvSpPr/>
          <p:nvPr/>
        </p:nvSpPr>
        <p:spPr>
          <a:xfrm>
            <a:off x="1209080" y="3522821"/>
            <a:ext cx="12212122" cy="433626"/>
          </a:xfrm>
          <a:prstGeom prst="rect">
            <a:avLst/>
          </a:prstGeom>
          <a:solidFill>
            <a:srgbClr val="FFFFFF">
              <a:alpha val="4000"/>
            </a:srgbClr>
          </a:solidFill>
          <a:ln/>
        </p:spPr>
      </p:sp>
      <p:sp>
        <p:nvSpPr>
          <p:cNvPr id="30" name="Text 28"/>
          <p:cNvSpPr/>
          <p:nvPr/>
        </p:nvSpPr>
        <p:spPr>
          <a:xfrm>
            <a:off x="1386483" y="3613428"/>
            <a:ext cx="306121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Oversampling + Fine-tuning</a:t>
            </a:r>
            <a:endParaRPr lang="en-US" sz="1350" dirty="0"/>
          </a:p>
        </p:txBody>
      </p:sp>
      <p:sp>
        <p:nvSpPr>
          <p:cNvPr id="31" name="Text 29"/>
          <p:cNvSpPr/>
          <p:nvPr/>
        </p:nvSpPr>
        <p:spPr>
          <a:xfrm>
            <a:off x="4809649" y="3613428"/>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77.33%</a:t>
            </a:r>
            <a:endParaRPr lang="en-US" sz="1350" dirty="0"/>
          </a:p>
        </p:txBody>
      </p:sp>
      <p:sp>
        <p:nvSpPr>
          <p:cNvPr id="32" name="Text 30"/>
          <p:cNvSpPr/>
          <p:nvPr/>
        </p:nvSpPr>
        <p:spPr>
          <a:xfrm>
            <a:off x="7007781" y="3613428"/>
            <a:ext cx="183618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0.786</a:t>
            </a:r>
            <a:endParaRPr lang="en-US" sz="1350" dirty="0"/>
          </a:p>
        </p:txBody>
      </p:sp>
      <p:sp>
        <p:nvSpPr>
          <p:cNvPr id="33" name="Text 31"/>
          <p:cNvSpPr/>
          <p:nvPr/>
        </p:nvSpPr>
        <p:spPr>
          <a:xfrm>
            <a:off x="9205913" y="3613428"/>
            <a:ext cx="1836182"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60.00%</a:t>
            </a:r>
            <a:endParaRPr lang="en-US" sz="1350" dirty="0"/>
          </a:p>
        </p:txBody>
      </p:sp>
      <p:sp>
        <p:nvSpPr>
          <p:cNvPr id="34" name="Text 32"/>
          <p:cNvSpPr/>
          <p:nvPr/>
        </p:nvSpPr>
        <p:spPr>
          <a:xfrm>
            <a:off x="11404044" y="3613428"/>
            <a:ext cx="1839992" cy="252413"/>
          </a:xfrm>
          <a:prstGeom prst="rect">
            <a:avLst/>
          </a:prstGeom>
          <a:noFill/>
          <a:ln/>
        </p:spPr>
        <p:txBody>
          <a:bodyPr wrap="none" lIns="0" tIns="0" rIns="0" bIns="0" rtlCol="0" anchor="t"/>
          <a:lstStyle/>
          <a:p>
            <a:pPr marL="0" indent="0" algn="l">
              <a:lnSpc>
                <a:spcPts val="1950"/>
              </a:lnSpc>
              <a:buNone/>
            </a:pPr>
            <a:r>
              <a:rPr lang="en-US" sz="1350" b="1" dirty="0">
                <a:solidFill>
                  <a:srgbClr val="3C3939"/>
                </a:solidFill>
                <a:latin typeface="Roboto" pitchFamily="34" charset="0"/>
                <a:ea typeface="Roboto" pitchFamily="34" charset="-122"/>
                <a:cs typeface="Roboto" pitchFamily="34" charset="-120"/>
              </a:rPr>
              <a:t>45.00%</a:t>
            </a:r>
            <a:endParaRPr lang="en-US" sz="1350" dirty="0"/>
          </a:p>
        </p:txBody>
      </p:sp>
      <p:sp>
        <p:nvSpPr>
          <p:cNvPr id="35" name="Text 33"/>
          <p:cNvSpPr/>
          <p:nvPr/>
        </p:nvSpPr>
        <p:spPr>
          <a:xfrm>
            <a:off x="1201460" y="4171712"/>
            <a:ext cx="2215039" cy="276820"/>
          </a:xfrm>
          <a:prstGeom prst="rect">
            <a:avLst/>
          </a:prstGeom>
          <a:noFill/>
          <a:ln/>
        </p:spPr>
        <p:txBody>
          <a:bodyPr wrap="none" lIns="0" tIns="0" rIns="0" bIns="0" rtlCol="0" anchor="t"/>
          <a:lstStyle/>
          <a:p>
            <a:pPr marL="0" indent="0" algn="l">
              <a:lnSpc>
                <a:spcPts val="2150"/>
              </a:lnSpc>
              <a:buNone/>
            </a:pPr>
            <a:r>
              <a:rPr lang="en-US" sz="1700" dirty="0">
                <a:solidFill>
                  <a:srgbClr val="1B1B27"/>
                </a:solidFill>
                <a:latin typeface="Raleway" pitchFamily="34" charset="0"/>
                <a:ea typeface="Raleway" pitchFamily="34" charset="-122"/>
                <a:cs typeface="Raleway" pitchFamily="34" charset="-120"/>
              </a:rPr>
              <a:t>Key Observations</a:t>
            </a:r>
            <a:endParaRPr lang="en-US" sz="1700" dirty="0"/>
          </a:p>
        </p:txBody>
      </p:sp>
      <p:pic>
        <p:nvPicPr>
          <p:cNvPr id="3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7897" y="4664988"/>
            <a:ext cx="265748" cy="265747"/>
          </a:xfrm>
          <a:prstGeom prst="rect">
            <a:avLst/>
          </a:prstGeom>
        </p:spPr>
      </p:pic>
      <p:sp>
        <p:nvSpPr>
          <p:cNvPr id="37" name="Text 34"/>
          <p:cNvSpPr/>
          <p:nvPr/>
        </p:nvSpPr>
        <p:spPr>
          <a:xfrm>
            <a:off x="1777246" y="4656177"/>
            <a:ext cx="545139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Transfer learning significantly improved performance over CNN</a:t>
            </a:r>
            <a:endParaRPr lang="en-US" sz="1350" dirty="0"/>
          </a:p>
        </p:txBody>
      </p:sp>
      <p:pic>
        <p:nvPicPr>
          <p:cNvPr id="3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8076" y="4664988"/>
            <a:ext cx="265748" cy="265747"/>
          </a:xfrm>
          <a:prstGeom prst="rect">
            <a:avLst/>
          </a:prstGeom>
        </p:spPr>
      </p:pic>
      <p:sp>
        <p:nvSpPr>
          <p:cNvPr id="39" name="Text 35"/>
          <p:cNvSpPr/>
          <p:nvPr/>
        </p:nvSpPr>
        <p:spPr>
          <a:xfrm>
            <a:off x="7977426" y="4656177"/>
            <a:ext cx="545139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Focal loss dramatically improved melanoma recall</a:t>
            </a:r>
            <a:endParaRPr lang="en-US" sz="1350" dirty="0"/>
          </a:p>
        </p:txBody>
      </p:sp>
      <p:pic>
        <p:nvPicPr>
          <p:cNvPr id="4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7897" y="5482114"/>
            <a:ext cx="265748" cy="265747"/>
          </a:xfrm>
          <a:prstGeom prst="rect">
            <a:avLst/>
          </a:prstGeom>
        </p:spPr>
      </p:pic>
      <p:sp>
        <p:nvSpPr>
          <p:cNvPr id="41" name="Text 36"/>
          <p:cNvSpPr/>
          <p:nvPr/>
        </p:nvSpPr>
        <p:spPr>
          <a:xfrm>
            <a:off x="1777246" y="5473303"/>
            <a:ext cx="545139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Oversampling improved overall balance and accuracy</a:t>
            </a:r>
            <a:endParaRPr lang="en-US" sz="1350" dirty="0"/>
          </a:p>
        </p:txBody>
      </p:sp>
      <p:pic>
        <p:nvPicPr>
          <p:cNvPr id="4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8076" y="5482114"/>
            <a:ext cx="265748" cy="265747"/>
          </a:xfrm>
          <a:prstGeom prst="rect">
            <a:avLst/>
          </a:prstGeom>
        </p:spPr>
      </p:pic>
      <p:sp>
        <p:nvSpPr>
          <p:cNvPr id="43" name="Text 37"/>
          <p:cNvSpPr/>
          <p:nvPr/>
        </p:nvSpPr>
        <p:spPr>
          <a:xfrm>
            <a:off x="7977426" y="5473303"/>
            <a:ext cx="545139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Threshold tuning allowed better control over sensitivity vs precision</a:t>
            </a:r>
            <a:endParaRPr lang="en-US" sz="1350" dirty="0"/>
          </a:p>
        </p:txBody>
      </p:sp>
      <p:sp>
        <p:nvSpPr>
          <p:cNvPr id="44" name="Text 38"/>
          <p:cNvSpPr/>
          <p:nvPr/>
        </p:nvSpPr>
        <p:spPr>
          <a:xfrm>
            <a:off x="1201460" y="6221254"/>
            <a:ext cx="2215039" cy="276820"/>
          </a:xfrm>
          <a:prstGeom prst="rect">
            <a:avLst/>
          </a:prstGeom>
          <a:noFill/>
          <a:ln/>
        </p:spPr>
        <p:txBody>
          <a:bodyPr wrap="none" lIns="0" tIns="0" rIns="0" bIns="0" rtlCol="0" anchor="t"/>
          <a:lstStyle/>
          <a:p>
            <a:pPr marL="0" indent="0" algn="l">
              <a:lnSpc>
                <a:spcPts val="2150"/>
              </a:lnSpc>
              <a:buNone/>
            </a:pPr>
            <a:r>
              <a:rPr lang="en-US" sz="1700" dirty="0">
                <a:solidFill>
                  <a:srgbClr val="1B1B27"/>
                </a:solidFill>
                <a:latin typeface="Raleway" pitchFamily="34" charset="0"/>
                <a:ea typeface="Raleway" pitchFamily="34" charset="-122"/>
                <a:cs typeface="Raleway" pitchFamily="34" charset="-120"/>
              </a:rPr>
              <a:t>Trade-off Analysis</a:t>
            </a:r>
            <a:endParaRPr lang="en-US" sz="1700" dirty="0"/>
          </a:p>
        </p:txBody>
      </p:sp>
      <p:sp>
        <p:nvSpPr>
          <p:cNvPr id="45" name="Shape 39"/>
          <p:cNvSpPr/>
          <p:nvPr/>
        </p:nvSpPr>
        <p:spPr>
          <a:xfrm>
            <a:off x="1201460" y="6705719"/>
            <a:ext cx="6044446" cy="981789"/>
          </a:xfrm>
          <a:prstGeom prst="roundRect">
            <a:avLst>
              <a:gd name="adj" fmla="val 7581"/>
            </a:avLst>
          </a:prstGeom>
          <a:solidFill>
            <a:srgbClr val="E1E1EA"/>
          </a:solidFill>
          <a:ln w="7620">
            <a:solidFill>
              <a:srgbClr val="C7C7D0"/>
            </a:solidFill>
            <a:prstDash val="solid"/>
          </a:ln>
        </p:spPr>
      </p:sp>
      <p:sp>
        <p:nvSpPr>
          <p:cNvPr id="46" name="Text 40"/>
          <p:cNvSpPr/>
          <p:nvPr/>
        </p:nvSpPr>
        <p:spPr>
          <a:xfrm>
            <a:off x="1386245" y="6890504"/>
            <a:ext cx="2215039" cy="276820"/>
          </a:xfrm>
          <a:prstGeom prst="rect">
            <a:avLst/>
          </a:prstGeom>
          <a:noFill/>
          <a:ln/>
        </p:spPr>
        <p:txBody>
          <a:bodyPr wrap="none" lIns="0" tIns="0" rIns="0" bIns="0" rtlCol="0" anchor="t"/>
          <a:lstStyle/>
          <a:p>
            <a:pPr marL="0" indent="0" algn="l">
              <a:lnSpc>
                <a:spcPts val="2150"/>
              </a:lnSpc>
              <a:buNone/>
            </a:pPr>
            <a:r>
              <a:rPr lang="en-US" sz="1700" dirty="0">
                <a:solidFill>
                  <a:srgbClr val="3C3939"/>
                </a:solidFill>
                <a:latin typeface="Raleway" pitchFamily="34" charset="0"/>
                <a:ea typeface="Raleway" pitchFamily="34" charset="-122"/>
                <a:cs typeface="Raleway" pitchFamily="34" charset="-120"/>
              </a:rPr>
              <a:t>High Recall Model</a:t>
            </a:r>
            <a:endParaRPr lang="en-US" sz="1700" dirty="0"/>
          </a:p>
        </p:txBody>
      </p:sp>
      <p:sp>
        <p:nvSpPr>
          <p:cNvPr id="47" name="Text 41"/>
          <p:cNvSpPr/>
          <p:nvPr/>
        </p:nvSpPr>
        <p:spPr>
          <a:xfrm>
            <a:off x="1386245" y="7250311"/>
            <a:ext cx="5674876"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Detects more melanoma cases, but with higher false positives</a:t>
            </a:r>
            <a:endParaRPr lang="en-US" sz="1350" dirty="0"/>
          </a:p>
        </p:txBody>
      </p:sp>
      <p:sp>
        <p:nvSpPr>
          <p:cNvPr id="48" name="Shape 42"/>
          <p:cNvSpPr/>
          <p:nvPr/>
        </p:nvSpPr>
        <p:spPr>
          <a:xfrm>
            <a:off x="7384256" y="6705719"/>
            <a:ext cx="6044565" cy="981789"/>
          </a:xfrm>
          <a:prstGeom prst="roundRect">
            <a:avLst>
              <a:gd name="adj" fmla="val 7581"/>
            </a:avLst>
          </a:prstGeom>
          <a:solidFill>
            <a:srgbClr val="E1E1EA"/>
          </a:solidFill>
          <a:ln w="7620">
            <a:solidFill>
              <a:srgbClr val="C7C7D0"/>
            </a:solidFill>
            <a:prstDash val="solid"/>
          </a:ln>
        </p:spPr>
      </p:sp>
      <p:sp>
        <p:nvSpPr>
          <p:cNvPr id="49" name="Text 43"/>
          <p:cNvSpPr/>
          <p:nvPr/>
        </p:nvSpPr>
        <p:spPr>
          <a:xfrm>
            <a:off x="7569041" y="6890504"/>
            <a:ext cx="2215039" cy="276820"/>
          </a:xfrm>
          <a:prstGeom prst="rect">
            <a:avLst/>
          </a:prstGeom>
          <a:noFill/>
          <a:ln/>
        </p:spPr>
        <p:txBody>
          <a:bodyPr wrap="none" lIns="0" tIns="0" rIns="0" bIns="0" rtlCol="0" anchor="t"/>
          <a:lstStyle/>
          <a:p>
            <a:pPr marL="0" indent="0" algn="l">
              <a:lnSpc>
                <a:spcPts val="2150"/>
              </a:lnSpc>
              <a:buNone/>
            </a:pPr>
            <a:r>
              <a:rPr lang="en-US" sz="1700" dirty="0">
                <a:solidFill>
                  <a:srgbClr val="3C3939"/>
                </a:solidFill>
                <a:latin typeface="Raleway" pitchFamily="34" charset="0"/>
                <a:ea typeface="Raleway" pitchFamily="34" charset="-122"/>
                <a:cs typeface="Raleway" pitchFamily="34" charset="-120"/>
              </a:rPr>
              <a:t>Balanced Model</a:t>
            </a:r>
            <a:endParaRPr lang="en-US" sz="1700" dirty="0"/>
          </a:p>
        </p:txBody>
      </p:sp>
      <p:sp>
        <p:nvSpPr>
          <p:cNvPr id="50" name="Text 44"/>
          <p:cNvSpPr/>
          <p:nvPr/>
        </p:nvSpPr>
        <p:spPr>
          <a:xfrm>
            <a:off x="7569041" y="7250311"/>
            <a:ext cx="5674995" cy="252413"/>
          </a:xfrm>
          <a:prstGeom prst="rect">
            <a:avLst/>
          </a:prstGeom>
          <a:noFill/>
          <a:ln/>
        </p:spPr>
        <p:txBody>
          <a:bodyPr wrap="none" lIns="0" tIns="0" rIns="0" bIns="0" rtlCol="0" anchor="t"/>
          <a:lstStyle/>
          <a:p>
            <a:pPr marL="0" indent="0" algn="l">
              <a:lnSpc>
                <a:spcPts val="1950"/>
              </a:lnSpc>
              <a:buNone/>
            </a:pPr>
            <a:r>
              <a:rPr lang="en-US" sz="1350" dirty="0">
                <a:solidFill>
                  <a:srgbClr val="3C3939"/>
                </a:solidFill>
                <a:latin typeface="Roboto" pitchFamily="34" charset="0"/>
                <a:ea typeface="Roboto" pitchFamily="34" charset="-122"/>
                <a:cs typeface="Roboto" pitchFamily="34" charset="-120"/>
              </a:rPr>
              <a:t>Better accuracy and AUC, with moderate recall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5572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Discussion</a:t>
            </a:r>
            <a:endParaRPr lang="en-US" sz="4450" dirty="0"/>
          </a:p>
        </p:txBody>
      </p:sp>
      <p:sp>
        <p:nvSpPr>
          <p:cNvPr id="3" name="Text 1"/>
          <p:cNvSpPr/>
          <p:nvPr/>
        </p:nvSpPr>
        <p:spPr>
          <a:xfrm>
            <a:off x="793790" y="221813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results demonstrate that model performance depends heavily on class imbalance handling, and that </a:t>
            </a:r>
            <a:r>
              <a:rPr lang="en-US" sz="1750" b="1" dirty="0">
                <a:solidFill>
                  <a:srgbClr val="3C3939"/>
                </a:solidFill>
                <a:latin typeface="Roboto" pitchFamily="34" charset="0"/>
                <a:ea typeface="Roboto" pitchFamily="34" charset="-122"/>
                <a:cs typeface="Roboto" pitchFamily="34" charset="-120"/>
              </a:rPr>
              <a:t>accuracy alone is not sufficient</a:t>
            </a:r>
            <a:r>
              <a:rPr lang="en-US" sz="1750" dirty="0">
                <a:solidFill>
                  <a:srgbClr val="3C3939"/>
                </a:solidFill>
                <a:latin typeface="Roboto" pitchFamily="34" charset="0"/>
                <a:ea typeface="Roboto" pitchFamily="34" charset="-122"/>
                <a:cs typeface="Roboto" pitchFamily="34" charset="-120"/>
              </a:rPr>
              <a:t> for medical tasks — recall (sensitivity) is more critical in melanoma detection.</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199090"/>
            <a:ext cx="566976" cy="566976"/>
          </a:xfrm>
          <a:prstGeom prst="rect">
            <a:avLst/>
          </a:prstGeom>
        </p:spPr>
      </p:pic>
      <p:sp>
        <p:nvSpPr>
          <p:cNvPr id="5" name="Text 2"/>
          <p:cNvSpPr/>
          <p:nvPr/>
        </p:nvSpPr>
        <p:spPr>
          <a:xfrm>
            <a:off x="1644253" y="3199090"/>
            <a:ext cx="3404116"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Class Imbalance Handling</a:t>
            </a:r>
            <a:endParaRPr lang="en-US" sz="2200" dirty="0"/>
          </a:p>
        </p:txBody>
      </p:sp>
      <p:sp>
        <p:nvSpPr>
          <p:cNvPr id="6" name="Text 3"/>
          <p:cNvSpPr/>
          <p:nvPr/>
        </p:nvSpPr>
        <p:spPr>
          <a:xfrm>
            <a:off x="1644253" y="3689509"/>
            <a:ext cx="5529143"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Model performance depends heavily on class imbalance handling. Techniques such as focal loss and oversampling are essential to ensure minority class detection.</a:t>
            </a:r>
            <a:endParaRPr lang="en-US" sz="17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456884" y="3199090"/>
            <a:ext cx="566976" cy="566976"/>
          </a:xfrm>
          <a:prstGeom prst="rect">
            <a:avLst/>
          </a:prstGeom>
        </p:spPr>
      </p:pic>
      <p:sp>
        <p:nvSpPr>
          <p:cNvPr id="8" name="Text 4"/>
          <p:cNvSpPr/>
          <p:nvPr/>
        </p:nvSpPr>
        <p:spPr>
          <a:xfrm>
            <a:off x="8307348" y="31990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Beyond Accuracy</a:t>
            </a:r>
            <a:endParaRPr lang="en-US" sz="2200" dirty="0"/>
          </a:p>
        </p:txBody>
      </p:sp>
      <p:sp>
        <p:nvSpPr>
          <p:cNvPr id="9" name="Text 5"/>
          <p:cNvSpPr/>
          <p:nvPr/>
        </p:nvSpPr>
        <p:spPr>
          <a:xfrm>
            <a:off x="8307348" y="3689509"/>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Accuracy alone is not sufficient for medical tasks. Recall (sensitivity) is more critical in melanoma detection to minimize missed diagnoses.</a:t>
            </a:r>
            <a:endParaRPr lang="en-US" sz="17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793790" y="5594747"/>
            <a:ext cx="566976" cy="566976"/>
          </a:xfrm>
          <a:prstGeom prst="rect">
            <a:avLst/>
          </a:prstGeom>
        </p:spPr>
      </p:pic>
      <p:sp>
        <p:nvSpPr>
          <p:cNvPr id="11" name="Text 6"/>
          <p:cNvSpPr/>
          <p:nvPr/>
        </p:nvSpPr>
        <p:spPr>
          <a:xfrm>
            <a:off x="1644253" y="55947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Transfer Learning</a:t>
            </a:r>
            <a:endParaRPr lang="en-US" sz="2200" dirty="0"/>
          </a:p>
        </p:txBody>
      </p:sp>
      <p:sp>
        <p:nvSpPr>
          <p:cNvPr id="12" name="Text 7"/>
          <p:cNvSpPr/>
          <p:nvPr/>
        </p:nvSpPr>
        <p:spPr>
          <a:xfrm>
            <a:off x="1644253" y="6085165"/>
            <a:ext cx="5529143"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Transfer learning is essential for small datasets, enabling models to leverage pretrained features and achieve strong performance.</a:t>
            </a:r>
            <a:endParaRPr lang="en-US" sz="17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7456884" y="5594747"/>
            <a:ext cx="566976" cy="566976"/>
          </a:xfrm>
          <a:prstGeom prst="rect">
            <a:avLst/>
          </a:prstGeom>
        </p:spPr>
      </p:pic>
      <p:sp>
        <p:nvSpPr>
          <p:cNvPr id="14" name="Text 8"/>
          <p:cNvSpPr/>
          <p:nvPr/>
        </p:nvSpPr>
        <p:spPr>
          <a:xfrm>
            <a:off x="8307348" y="5594747"/>
            <a:ext cx="4442698"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Loss Function &amp; Threshold Design</a:t>
            </a:r>
            <a:endParaRPr lang="en-US" sz="2200" dirty="0"/>
          </a:p>
        </p:txBody>
      </p:sp>
      <p:sp>
        <p:nvSpPr>
          <p:cNvPr id="15" name="Text 9"/>
          <p:cNvSpPr/>
          <p:nvPr/>
        </p:nvSpPr>
        <p:spPr>
          <a:xfrm>
            <a:off x="8307348" y="6085165"/>
            <a:ext cx="5529263"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Loss function design and threshold optimization are critical for balancing sensitivity and precision based on application requirements.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2351" y="530781"/>
            <a:ext cx="4784646" cy="598051"/>
          </a:xfrm>
          <a:prstGeom prst="rect">
            <a:avLst/>
          </a:prstGeom>
          <a:noFill/>
          <a:ln/>
        </p:spPr>
        <p:txBody>
          <a:bodyPr wrap="none" lIns="0" tIns="0" rIns="0" bIns="0" rtlCol="0" anchor="t"/>
          <a:lstStyle/>
          <a:p>
            <a:pPr marL="0" indent="0" algn="l">
              <a:lnSpc>
                <a:spcPts val="4700"/>
              </a:lnSpc>
              <a:buNone/>
            </a:pPr>
            <a:r>
              <a:rPr lang="en-US" sz="3750" dirty="0">
                <a:solidFill>
                  <a:srgbClr val="1B1B27"/>
                </a:solidFill>
                <a:latin typeface="Raleway" pitchFamily="34" charset="0"/>
                <a:ea typeface="Raleway" pitchFamily="34" charset="-122"/>
                <a:cs typeface="Raleway" pitchFamily="34" charset="-120"/>
              </a:rPr>
              <a:t>Conclusion</a:t>
            </a:r>
            <a:endParaRPr lang="en-US" sz="3750" dirty="0"/>
          </a:p>
        </p:txBody>
      </p:sp>
      <p:sp>
        <p:nvSpPr>
          <p:cNvPr id="3" name="Text 1"/>
          <p:cNvSpPr/>
          <p:nvPr/>
        </p:nvSpPr>
        <p:spPr>
          <a:xfrm>
            <a:off x="712351" y="1451729"/>
            <a:ext cx="13205579" cy="282178"/>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oboto" pitchFamily="34" charset="0"/>
                <a:ea typeface="Roboto" pitchFamily="34" charset="-122"/>
                <a:cs typeface="Roboto" pitchFamily="34" charset="-120"/>
              </a:rPr>
              <a:t>This study presented a comprehensive comparison of deep learning approaches for melanoma detection. The final model achieved:</a:t>
            </a:r>
            <a:endParaRPr lang="en-US" sz="1500" dirty="0"/>
          </a:p>
        </p:txBody>
      </p:sp>
      <p:sp>
        <p:nvSpPr>
          <p:cNvPr id="4" name="Text 2"/>
          <p:cNvSpPr/>
          <p:nvPr/>
        </p:nvSpPr>
        <p:spPr>
          <a:xfrm>
            <a:off x="712351" y="2011085"/>
            <a:ext cx="4267319" cy="631507"/>
          </a:xfrm>
          <a:prstGeom prst="rect">
            <a:avLst/>
          </a:prstGeom>
          <a:noFill/>
          <a:ln/>
        </p:spPr>
        <p:txBody>
          <a:bodyPr wrap="none" lIns="0" tIns="0" rIns="0" bIns="0" rtlCol="0" anchor="t"/>
          <a:lstStyle/>
          <a:p>
            <a:pPr marL="0" indent="0" algn="ctr">
              <a:lnSpc>
                <a:spcPts val="4950"/>
              </a:lnSpc>
              <a:buNone/>
            </a:pPr>
            <a:r>
              <a:rPr lang="en-US" sz="4950" dirty="0">
                <a:solidFill>
                  <a:srgbClr val="3C3939"/>
                </a:solidFill>
                <a:latin typeface="Raleway" pitchFamily="34" charset="0"/>
                <a:ea typeface="Raleway" pitchFamily="34" charset="-122"/>
                <a:cs typeface="Raleway" pitchFamily="34" charset="-120"/>
              </a:rPr>
              <a:t>77.33%</a:t>
            </a:r>
            <a:endParaRPr lang="en-US" sz="4950" dirty="0"/>
          </a:p>
        </p:txBody>
      </p:sp>
      <p:sp>
        <p:nvSpPr>
          <p:cNvPr id="5" name="Text 3"/>
          <p:cNvSpPr/>
          <p:nvPr/>
        </p:nvSpPr>
        <p:spPr>
          <a:xfrm>
            <a:off x="1649849" y="2859286"/>
            <a:ext cx="2392323" cy="298966"/>
          </a:xfrm>
          <a:prstGeom prst="rect">
            <a:avLst/>
          </a:prstGeom>
          <a:noFill/>
          <a:ln/>
        </p:spPr>
        <p:txBody>
          <a:bodyPr wrap="none" lIns="0" tIns="0" rIns="0" bIns="0" rtlCol="0" anchor="t"/>
          <a:lstStyle/>
          <a:p>
            <a:pPr marL="0" indent="0" algn="ctr">
              <a:lnSpc>
                <a:spcPts val="2350"/>
              </a:lnSpc>
              <a:buNone/>
            </a:pPr>
            <a:r>
              <a:rPr lang="en-US" sz="1850" dirty="0">
                <a:solidFill>
                  <a:srgbClr val="3C3939"/>
                </a:solidFill>
                <a:latin typeface="Raleway" pitchFamily="34" charset="0"/>
                <a:ea typeface="Raleway" pitchFamily="34" charset="-122"/>
                <a:cs typeface="Raleway" pitchFamily="34" charset="-120"/>
              </a:rPr>
              <a:t>Accuracy</a:t>
            </a:r>
            <a:endParaRPr lang="en-US" sz="1850" dirty="0"/>
          </a:p>
        </p:txBody>
      </p:sp>
      <p:sp>
        <p:nvSpPr>
          <p:cNvPr id="6" name="Text 4"/>
          <p:cNvSpPr/>
          <p:nvPr/>
        </p:nvSpPr>
        <p:spPr>
          <a:xfrm>
            <a:off x="712351" y="3255050"/>
            <a:ext cx="4267319" cy="564356"/>
          </a:xfrm>
          <a:prstGeom prst="rect">
            <a:avLst/>
          </a:prstGeom>
          <a:noFill/>
          <a:ln/>
        </p:spPr>
        <p:txBody>
          <a:bodyPr wrap="square" lIns="0" tIns="0" rIns="0" bIns="0" rtlCol="0" anchor="t"/>
          <a:lstStyle/>
          <a:p>
            <a:pPr marL="0" indent="0" algn="ctr">
              <a:lnSpc>
                <a:spcPts val="2200"/>
              </a:lnSpc>
              <a:buNone/>
            </a:pPr>
            <a:r>
              <a:rPr lang="en-US" sz="1500" dirty="0">
                <a:solidFill>
                  <a:srgbClr val="3C3939"/>
                </a:solidFill>
                <a:latin typeface="Roboto" pitchFamily="34" charset="0"/>
                <a:ea typeface="Roboto" pitchFamily="34" charset="-122"/>
                <a:cs typeface="Roboto" pitchFamily="34" charset="-120"/>
              </a:rPr>
              <a:t>Best overall accuracy achieved by the oversampling + fine-tuning model</a:t>
            </a:r>
            <a:endParaRPr lang="en-US" sz="1500" dirty="0"/>
          </a:p>
        </p:txBody>
      </p:sp>
      <p:sp>
        <p:nvSpPr>
          <p:cNvPr id="7" name="Text 5"/>
          <p:cNvSpPr/>
          <p:nvPr/>
        </p:nvSpPr>
        <p:spPr>
          <a:xfrm>
            <a:off x="5181481" y="2011085"/>
            <a:ext cx="4267319" cy="631507"/>
          </a:xfrm>
          <a:prstGeom prst="rect">
            <a:avLst/>
          </a:prstGeom>
          <a:noFill/>
          <a:ln/>
        </p:spPr>
        <p:txBody>
          <a:bodyPr wrap="none" lIns="0" tIns="0" rIns="0" bIns="0" rtlCol="0" anchor="t"/>
          <a:lstStyle/>
          <a:p>
            <a:pPr marL="0" indent="0" algn="ctr">
              <a:lnSpc>
                <a:spcPts val="4950"/>
              </a:lnSpc>
              <a:buNone/>
            </a:pPr>
            <a:r>
              <a:rPr lang="en-US" sz="4950" dirty="0">
                <a:solidFill>
                  <a:srgbClr val="3C3939"/>
                </a:solidFill>
                <a:latin typeface="Raleway" pitchFamily="34" charset="0"/>
                <a:ea typeface="Raleway" pitchFamily="34" charset="-122"/>
                <a:cs typeface="Raleway" pitchFamily="34" charset="-120"/>
              </a:rPr>
              <a:t>0.786</a:t>
            </a:r>
            <a:endParaRPr lang="en-US" sz="4950" dirty="0"/>
          </a:p>
        </p:txBody>
      </p:sp>
      <p:sp>
        <p:nvSpPr>
          <p:cNvPr id="8" name="Text 6"/>
          <p:cNvSpPr/>
          <p:nvPr/>
        </p:nvSpPr>
        <p:spPr>
          <a:xfrm>
            <a:off x="6118979" y="2859286"/>
            <a:ext cx="2392323" cy="298966"/>
          </a:xfrm>
          <a:prstGeom prst="rect">
            <a:avLst/>
          </a:prstGeom>
          <a:noFill/>
          <a:ln/>
        </p:spPr>
        <p:txBody>
          <a:bodyPr wrap="none" lIns="0" tIns="0" rIns="0" bIns="0" rtlCol="0" anchor="t"/>
          <a:lstStyle/>
          <a:p>
            <a:pPr marL="0" indent="0" algn="ctr">
              <a:lnSpc>
                <a:spcPts val="2350"/>
              </a:lnSpc>
              <a:buNone/>
            </a:pPr>
            <a:r>
              <a:rPr lang="en-US" sz="1850" dirty="0">
                <a:solidFill>
                  <a:srgbClr val="3C3939"/>
                </a:solidFill>
                <a:latin typeface="Raleway" pitchFamily="34" charset="0"/>
                <a:ea typeface="Raleway" pitchFamily="34" charset="-122"/>
                <a:cs typeface="Raleway" pitchFamily="34" charset="-120"/>
              </a:rPr>
              <a:t>ROC-AUC</a:t>
            </a:r>
            <a:endParaRPr lang="en-US" sz="1850" dirty="0"/>
          </a:p>
        </p:txBody>
      </p:sp>
      <p:sp>
        <p:nvSpPr>
          <p:cNvPr id="9" name="Text 7"/>
          <p:cNvSpPr/>
          <p:nvPr/>
        </p:nvSpPr>
        <p:spPr>
          <a:xfrm>
            <a:off x="5181481" y="3255050"/>
            <a:ext cx="4267319" cy="564356"/>
          </a:xfrm>
          <a:prstGeom prst="rect">
            <a:avLst/>
          </a:prstGeom>
          <a:noFill/>
          <a:ln/>
        </p:spPr>
        <p:txBody>
          <a:bodyPr wrap="square" lIns="0" tIns="0" rIns="0" bIns="0" rtlCol="0" anchor="t"/>
          <a:lstStyle/>
          <a:p>
            <a:pPr marL="0" indent="0" algn="ctr">
              <a:lnSpc>
                <a:spcPts val="2200"/>
              </a:lnSpc>
              <a:buNone/>
            </a:pPr>
            <a:r>
              <a:rPr lang="en-US" sz="1500" dirty="0">
                <a:solidFill>
                  <a:srgbClr val="3C3939"/>
                </a:solidFill>
                <a:latin typeface="Roboto" pitchFamily="34" charset="0"/>
                <a:ea typeface="Roboto" pitchFamily="34" charset="-122"/>
                <a:cs typeface="Roboto" pitchFamily="34" charset="-120"/>
              </a:rPr>
              <a:t>Strong discriminative ability on the ISIC 2017 test set</a:t>
            </a:r>
            <a:endParaRPr lang="en-US" sz="1500" dirty="0"/>
          </a:p>
        </p:txBody>
      </p:sp>
      <p:sp>
        <p:nvSpPr>
          <p:cNvPr id="10" name="Text 8"/>
          <p:cNvSpPr/>
          <p:nvPr/>
        </p:nvSpPr>
        <p:spPr>
          <a:xfrm>
            <a:off x="9650611" y="2011085"/>
            <a:ext cx="4267319" cy="631507"/>
          </a:xfrm>
          <a:prstGeom prst="rect">
            <a:avLst/>
          </a:prstGeom>
          <a:noFill/>
          <a:ln/>
        </p:spPr>
        <p:txBody>
          <a:bodyPr wrap="none" lIns="0" tIns="0" rIns="0" bIns="0" rtlCol="0" anchor="t"/>
          <a:lstStyle/>
          <a:p>
            <a:pPr marL="0" indent="0" algn="ctr">
              <a:lnSpc>
                <a:spcPts val="4950"/>
              </a:lnSpc>
              <a:buNone/>
            </a:pPr>
            <a:r>
              <a:rPr lang="en-US" sz="4950" dirty="0">
                <a:solidFill>
                  <a:srgbClr val="3C3939"/>
                </a:solidFill>
                <a:latin typeface="Raleway" pitchFamily="34" charset="0"/>
                <a:ea typeface="Raleway" pitchFamily="34" charset="-122"/>
                <a:cs typeface="Raleway" pitchFamily="34" charset="-120"/>
              </a:rPr>
              <a:t>86.67%</a:t>
            </a:r>
            <a:endParaRPr lang="en-US" sz="4950" dirty="0"/>
          </a:p>
        </p:txBody>
      </p:sp>
      <p:sp>
        <p:nvSpPr>
          <p:cNvPr id="11" name="Text 9"/>
          <p:cNvSpPr/>
          <p:nvPr/>
        </p:nvSpPr>
        <p:spPr>
          <a:xfrm>
            <a:off x="10588109" y="2859286"/>
            <a:ext cx="2392323" cy="298966"/>
          </a:xfrm>
          <a:prstGeom prst="rect">
            <a:avLst/>
          </a:prstGeom>
          <a:noFill/>
          <a:ln/>
        </p:spPr>
        <p:txBody>
          <a:bodyPr wrap="none" lIns="0" tIns="0" rIns="0" bIns="0" rtlCol="0" anchor="t"/>
          <a:lstStyle/>
          <a:p>
            <a:pPr marL="0" indent="0" algn="ctr">
              <a:lnSpc>
                <a:spcPts val="2350"/>
              </a:lnSpc>
              <a:buNone/>
            </a:pPr>
            <a:r>
              <a:rPr lang="en-US" sz="1850" dirty="0">
                <a:solidFill>
                  <a:srgbClr val="3C3939"/>
                </a:solidFill>
                <a:latin typeface="Raleway" pitchFamily="34" charset="0"/>
                <a:ea typeface="Raleway" pitchFamily="34" charset="-122"/>
                <a:cs typeface="Raleway" pitchFamily="34" charset="-120"/>
              </a:rPr>
              <a:t>Melanoma Recall</a:t>
            </a:r>
            <a:endParaRPr lang="en-US" sz="1850" dirty="0"/>
          </a:p>
        </p:txBody>
      </p:sp>
      <p:sp>
        <p:nvSpPr>
          <p:cNvPr id="12" name="Text 10"/>
          <p:cNvSpPr/>
          <p:nvPr/>
        </p:nvSpPr>
        <p:spPr>
          <a:xfrm>
            <a:off x="9650611" y="3255050"/>
            <a:ext cx="4267319" cy="564356"/>
          </a:xfrm>
          <a:prstGeom prst="rect">
            <a:avLst/>
          </a:prstGeom>
          <a:noFill/>
          <a:ln/>
        </p:spPr>
        <p:txBody>
          <a:bodyPr wrap="square" lIns="0" tIns="0" rIns="0" bIns="0" rtlCol="0" anchor="t"/>
          <a:lstStyle/>
          <a:p>
            <a:pPr marL="0" indent="0" algn="ctr">
              <a:lnSpc>
                <a:spcPts val="2200"/>
              </a:lnSpc>
              <a:buNone/>
            </a:pPr>
            <a:r>
              <a:rPr lang="en-US" sz="1500" dirty="0">
                <a:solidFill>
                  <a:srgbClr val="3C3939"/>
                </a:solidFill>
                <a:latin typeface="Roboto" pitchFamily="34" charset="0"/>
                <a:ea typeface="Roboto" pitchFamily="34" charset="-122"/>
                <a:cs typeface="Roboto" pitchFamily="34" charset="-120"/>
              </a:rPr>
              <a:t>Achieved by the focal loss model — highest sensitivity for detecting melanoma cases</a:t>
            </a:r>
            <a:endParaRPr lang="en-US" sz="1500" dirty="0"/>
          </a:p>
        </p:txBody>
      </p:sp>
      <p:sp>
        <p:nvSpPr>
          <p:cNvPr id="13" name="Shape 11"/>
          <p:cNvSpPr/>
          <p:nvPr/>
        </p:nvSpPr>
        <p:spPr>
          <a:xfrm>
            <a:off x="712351" y="4000976"/>
            <a:ext cx="13205579" cy="1014413"/>
          </a:xfrm>
          <a:prstGeom prst="roundRect">
            <a:avLst>
              <a:gd name="adj" fmla="val 7924"/>
            </a:avLst>
          </a:prstGeom>
          <a:solidFill>
            <a:srgbClr val="B6D6FC"/>
          </a:solidFill>
          <a:ln/>
        </p:spPr>
      </p:sp>
      <p:pic>
        <p:nvPicPr>
          <p:cNvPr id="14" name="Image 0" descr="preencoded.png"/>
          <p:cNvPicPr>
            <a:picLocks noChangeAspect="1"/>
          </p:cNvPicPr>
          <p:nvPr/>
        </p:nvPicPr>
        <p:blipFill>
          <a:blip r:embed="rId3"/>
          <a:stretch>
            <a:fillRect/>
          </a:stretch>
        </p:blipFill>
        <p:spPr>
          <a:xfrm>
            <a:off x="903684" y="4278273"/>
            <a:ext cx="239197" cy="191333"/>
          </a:xfrm>
          <a:prstGeom prst="rect">
            <a:avLst/>
          </a:prstGeom>
        </p:spPr>
      </p:pic>
      <p:sp>
        <p:nvSpPr>
          <p:cNvPr id="15" name="Text 12"/>
          <p:cNvSpPr/>
          <p:nvPr/>
        </p:nvSpPr>
        <p:spPr>
          <a:xfrm>
            <a:off x="1334214" y="4210169"/>
            <a:ext cx="12392382" cy="564356"/>
          </a:xfrm>
          <a:prstGeom prst="rect">
            <a:avLst/>
          </a:prstGeom>
          <a:noFill/>
          <a:ln/>
        </p:spPr>
        <p:txBody>
          <a:bodyPr wrap="square" lIns="0" tIns="0" rIns="0" bIns="0" rtlCol="0" anchor="t"/>
          <a:lstStyle/>
          <a:p>
            <a:pPr marL="0" indent="0" algn="l">
              <a:lnSpc>
                <a:spcPts val="2200"/>
              </a:lnSpc>
              <a:buNone/>
            </a:pPr>
            <a:r>
              <a:rPr lang="en-US" sz="1500" dirty="0">
                <a:solidFill>
                  <a:srgbClr val="000000"/>
                </a:solidFill>
                <a:latin typeface="Roboto" pitchFamily="34" charset="0"/>
                <a:ea typeface="Roboto" pitchFamily="34" charset="-122"/>
                <a:cs typeface="Roboto" pitchFamily="34" charset="-120"/>
              </a:rPr>
              <a:t>These results demonstrate that </a:t>
            </a:r>
            <a:r>
              <a:rPr lang="en-US" sz="1500" b="1" dirty="0">
                <a:solidFill>
                  <a:srgbClr val="000000"/>
                </a:solidFill>
                <a:latin typeface="Roboto" pitchFamily="34" charset="0"/>
                <a:ea typeface="Roboto" pitchFamily="34" charset="-122"/>
                <a:cs typeface="Roboto" pitchFamily="34" charset="-120"/>
              </a:rPr>
              <a:t>different techniques optimize different objectives</a:t>
            </a:r>
            <a:r>
              <a:rPr lang="en-US" sz="1500" dirty="0">
                <a:solidFill>
                  <a:srgbClr val="000000"/>
                </a:solidFill>
                <a:latin typeface="Roboto" pitchFamily="34" charset="0"/>
                <a:ea typeface="Roboto" pitchFamily="34" charset="-122"/>
                <a:cs typeface="Roboto" pitchFamily="34" charset="-120"/>
              </a:rPr>
              <a:t>, and model selection should depend on application requirements.</a:t>
            </a:r>
            <a:endParaRPr lang="en-US" sz="1500" dirty="0"/>
          </a:p>
        </p:txBody>
      </p:sp>
      <p:sp>
        <p:nvSpPr>
          <p:cNvPr id="16" name="Text 13"/>
          <p:cNvSpPr/>
          <p:nvPr/>
        </p:nvSpPr>
        <p:spPr>
          <a:xfrm>
            <a:off x="712351" y="5257562"/>
            <a:ext cx="2392323" cy="298966"/>
          </a:xfrm>
          <a:prstGeom prst="rect">
            <a:avLst/>
          </a:prstGeom>
          <a:noFill/>
          <a:ln/>
        </p:spPr>
        <p:txBody>
          <a:bodyPr wrap="none" lIns="0" tIns="0" rIns="0" bIns="0" rtlCol="0" anchor="t"/>
          <a:lstStyle/>
          <a:p>
            <a:pPr marL="0" indent="0" algn="l">
              <a:lnSpc>
                <a:spcPts val="2350"/>
              </a:lnSpc>
              <a:buNone/>
            </a:pPr>
            <a:r>
              <a:rPr lang="en-US" sz="1850" dirty="0">
                <a:solidFill>
                  <a:srgbClr val="1B1B27"/>
                </a:solidFill>
                <a:latin typeface="Raleway" pitchFamily="34" charset="0"/>
                <a:ea typeface="Raleway" pitchFamily="34" charset="-122"/>
                <a:cs typeface="Raleway" pitchFamily="34" charset="-120"/>
              </a:rPr>
              <a:t>Future Work</a:t>
            </a:r>
            <a:endParaRPr lang="en-US" sz="1850" dirty="0"/>
          </a:p>
        </p:txBody>
      </p:sp>
      <p:sp>
        <p:nvSpPr>
          <p:cNvPr id="17" name="Text 14"/>
          <p:cNvSpPr/>
          <p:nvPr/>
        </p:nvSpPr>
        <p:spPr>
          <a:xfrm>
            <a:off x="712351" y="5798701"/>
            <a:ext cx="382667" cy="239197"/>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aleway Light" pitchFamily="34" charset="0"/>
                <a:ea typeface="Raleway Light" pitchFamily="34" charset="-122"/>
                <a:cs typeface="Raleway Light" pitchFamily="34" charset="-120"/>
              </a:rPr>
              <a:t>01</a:t>
            </a:r>
            <a:endParaRPr lang="en-US" sz="1500" dirty="0"/>
          </a:p>
        </p:txBody>
      </p:sp>
      <p:sp>
        <p:nvSpPr>
          <p:cNvPr id="18" name="Shape 15"/>
          <p:cNvSpPr/>
          <p:nvPr/>
        </p:nvSpPr>
        <p:spPr>
          <a:xfrm>
            <a:off x="712351" y="6101001"/>
            <a:ext cx="6522006" cy="22860"/>
          </a:xfrm>
          <a:prstGeom prst="rect">
            <a:avLst/>
          </a:prstGeom>
          <a:solidFill>
            <a:srgbClr val="1B1B27"/>
          </a:solidFill>
          <a:ln/>
        </p:spPr>
      </p:sp>
      <p:sp>
        <p:nvSpPr>
          <p:cNvPr id="19" name="Text 16"/>
          <p:cNvSpPr/>
          <p:nvPr/>
        </p:nvSpPr>
        <p:spPr>
          <a:xfrm>
            <a:off x="712351" y="6242328"/>
            <a:ext cx="6522006" cy="282178"/>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oboto" pitchFamily="34" charset="0"/>
                <a:ea typeface="Roboto" pitchFamily="34" charset="-122"/>
                <a:cs typeface="Roboto" pitchFamily="34" charset="-120"/>
              </a:rPr>
              <a:t>Use larger datasets </a:t>
            </a:r>
            <a:endParaRPr lang="en-US" sz="1500" dirty="0"/>
          </a:p>
        </p:txBody>
      </p:sp>
      <p:sp>
        <p:nvSpPr>
          <p:cNvPr id="20" name="Text 17"/>
          <p:cNvSpPr/>
          <p:nvPr/>
        </p:nvSpPr>
        <p:spPr>
          <a:xfrm>
            <a:off x="7395805" y="5798701"/>
            <a:ext cx="382667" cy="239197"/>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aleway Light" pitchFamily="34" charset="0"/>
                <a:ea typeface="Raleway Light" pitchFamily="34" charset="-122"/>
                <a:cs typeface="Raleway Light" pitchFamily="34" charset="-120"/>
              </a:rPr>
              <a:t>02</a:t>
            </a:r>
            <a:endParaRPr lang="en-US" sz="1500" dirty="0"/>
          </a:p>
        </p:txBody>
      </p:sp>
      <p:sp>
        <p:nvSpPr>
          <p:cNvPr id="21" name="Shape 18"/>
          <p:cNvSpPr/>
          <p:nvPr/>
        </p:nvSpPr>
        <p:spPr>
          <a:xfrm>
            <a:off x="7395805" y="6101001"/>
            <a:ext cx="6522125" cy="22860"/>
          </a:xfrm>
          <a:prstGeom prst="rect">
            <a:avLst/>
          </a:prstGeom>
          <a:solidFill>
            <a:srgbClr val="1B1B27"/>
          </a:solidFill>
          <a:ln/>
        </p:spPr>
      </p:sp>
      <p:sp>
        <p:nvSpPr>
          <p:cNvPr id="22" name="Text 19"/>
          <p:cNvSpPr/>
          <p:nvPr/>
        </p:nvSpPr>
        <p:spPr>
          <a:xfrm>
            <a:off x="7395805" y="6242328"/>
            <a:ext cx="6522125" cy="282178"/>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oboto" pitchFamily="34" charset="0"/>
                <a:ea typeface="Roboto" pitchFamily="34" charset="-122"/>
                <a:cs typeface="Roboto" pitchFamily="34" charset="-120"/>
              </a:rPr>
              <a:t>Implement advanced architectures (Vision Transformers)</a:t>
            </a:r>
            <a:endParaRPr lang="en-US" sz="1500" dirty="0"/>
          </a:p>
        </p:txBody>
      </p:sp>
      <p:sp>
        <p:nvSpPr>
          <p:cNvPr id="23" name="Text 20"/>
          <p:cNvSpPr/>
          <p:nvPr/>
        </p:nvSpPr>
        <p:spPr>
          <a:xfrm>
            <a:off x="712351" y="6829425"/>
            <a:ext cx="382667" cy="239197"/>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aleway Light" pitchFamily="34" charset="0"/>
                <a:ea typeface="Raleway Light" pitchFamily="34" charset="-122"/>
                <a:cs typeface="Raleway Light" pitchFamily="34" charset="-120"/>
              </a:rPr>
              <a:t>03</a:t>
            </a:r>
            <a:endParaRPr lang="en-US" sz="1500" dirty="0"/>
          </a:p>
        </p:txBody>
      </p:sp>
      <p:sp>
        <p:nvSpPr>
          <p:cNvPr id="24" name="Shape 21"/>
          <p:cNvSpPr/>
          <p:nvPr/>
        </p:nvSpPr>
        <p:spPr>
          <a:xfrm>
            <a:off x="712351" y="7131725"/>
            <a:ext cx="6522006" cy="22860"/>
          </a:xfrm>
          <a:prstGeom prst="rect">
            <a:avLst/>
          </a:prstGeom>
          <a:solidFill>
            <a:srgbClr val="1B1B27"/>
          </a:solidFill>
          <a:ln/>
        </p:spPr>
      </p:sp>
      <p:sp>
        <p:nvSpPr>
          <p:cNvPr id="25" name="Text 22"/>
          <p:cNvSpPr/>
          <p:nvPr/>
        </p:nvSpPr>
        <p:spPr>
          <a:xfrm>
            <a:off x="712351" y="7273052"/>
            <a:ext cx="6522006" cy="282178"/>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oboto" pitchFamily="34" charset="0"/>
                <a:ea typeface="Roboto" pitchFamily="34" charset="-122"/>
                <a:cs typeface="Roboto" pitchFamily="34" charset="-120"/>
              </a:rPr>
              <a:t>Add explainability (Grad-CAM)</a:t>
            </a:r>
            <a:endParaRPr lang="en-US" sz="1500" dirty="0"/>
          </a:p>
        </p:txBody>
      </p:sp>
      <p:sp>
        <p:nvSpPr>
          <p:cNvPr id="26" name="Text 23"/>
          <p:cNvSpPr/>
          <p:nvPr/>
        </p:nvSpPr>
        <p:spPr>
          <a:xfrm>
            <a:off x="7395805" y="6829425"/>
            <a:ext cx="382667" cy="239197"/>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aleway Light" pitchFamily="34" charset="0"/>
                <a:ea typeface="Raleway Light" pitchFamily="34" charset="-122"/>
                <a:cs typeface="Raleway Light" pitchFamily="34" charset="-120"/>
              </a:rPr>
              <a:t>04</a:t>
            </a:r>
            <a:endParaRPr lang="en-US" sz="1500" dirty="0"/>
          </a:p>
        </p:txBody>
      </p:sp>
      <p:sp>
        <p:nvSpPr>
          <p:cNvPr id="27" name="Shape 24"/>
          <p:cNvSpPr/>
          <p:nvPr/>
        </p:nvSpPr>
        <p:spPr>
          <a:xfrm>
            <a:off x="7395805" y="7131725"/>
            <a:ext cx="6522125" cy="22860"/>
          </a:xfrm>
          <a:prstGeom prst="rect">
            <a:avLst/>
          </a:prstGeom>
          <a:solidFill>
            <a:srgbClr val="1B1B27"/>
          </a:solidFill>
          <a:ln/>
        </p:spPr>
      </p:sp>
      <p:sp>
        <p:nvSpPr>
          <p:cNvPr id="28" name="Text 25"/>
          <p:cNvSpPr/>
          <p:nvPr/>
        </p:nvSpPr>
        <p:spPr>
          <a:xfrm>
            <a:off x="7395805" y="7273052"/>
            <a:ext cx="6522125" cy="282178"/>
          </a:xfrm>
          <a:prstGeom prst="rect">
            <a:avLst/>
          </a:prstGeom>
          <a:noFill/>
          <a:ln/>
        </p:spPr>
        <p:txBody>
          <a:bodyPr wrap="none" lIns="0" tIns="0" rIns="0" bIns="0" rtlCol="0" anchor="t"/>
          <a:lstStyle/>
          <a:p>
            <a:pPr marL="0" indent="0" algn="l">
              <a:lnSpc>
                <a:spcPts val="2200"/>
              </a:lnSpc>
              <a:buNone/>
            </a:pPr>
            <a:r>
              <a:rPr lang="en-US" sz="1500" dirty="0">
                <a:solidFill>
                  <a:srgbClr val="3C3939"/>
                </a:solidFill>
                <a:latin typeface="Roboto" pitchFamily="34" charset="0"/>
                <a:ea typeface="Roboto" pitchFamily="34" charset="-122"/>
                <a:cs typeface="Roboto" pitchFamily="34" charset="-120"/>
              </a:rPr>
              <a:t>Deploy as real-time diagnostic tool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5970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References</a:t>
            </a:r>
            <a:endParaRPr lang="en-US" sz="4450" dirty="0"/>
          </a:p>
        </p:txBody>
      </p:sp>
      <p:sp>
        <p:nvSpPr>
          <p:cNvPr id="10" name="TextBox 9">
            <a:extLst>
              <a:ext uri="{FF2B5EF4-FFF2-40B4-BE49-F238E27FC236}">
                <a16:creationId xmlns:a16="http://schemas.microsoft.com/office/drawing/2014/main" id="{88CA1219-E637-40CE-B4F3-D86E6F2F1E77}"/>
              </a:ext>
            </a:extLst>
          </p:cNvPr>
          <p:cNvSpPr txBox="1"/>
          <p:nvPr/>
        </p:nvSpPr>
        <p:spPr>
          <a:xfrm>
            <a:off x="793790" y="2640330"/>
            <a:ext cx="12682180" cy="4524315"/>
          </a:xfrm>
          <a:prstGeom prst="rect">
            <a:avLst/>
          </a:prstGeom>
          <a:noFill/>
        </p:spPr>
        <p:txBody>
          <a:bodyPr wrap="square" rtlCol="0">
            <a:spAutoFit/>
          </a:bodyPr>
          <a:lstStyle/>
          <a:p>
            <a:r>
              <a:rPr lang="en-US" sz="1800" dirty="0">
                <a:latin typeface="Roboto" panose="02000000000000000000" pitchFamily="2" charset="0"/>
                <a:ea typeface="Roboto" panose="02000000000000000000" pitchFamily="2" charset="0"/>
                <a:cs typeface="Times New Roman" panose="02020603050405020304" pitchFamily="18" charset="0"/>
              </a:rPr>
              <a:t>[1]K. </a:t>
            </a:r>
            <a:r>
              <a:rPr lang="en-US" sz="1800" dirty="0" err="1">
                <a:latin typeface="Roboto" panose="02000000000000000000" pitchFamily="2" charset="0"/>
                <a:ea typeface="Roboto" panose="02000000000000000000" pitchFamily="2" charset="0"/>
                <a:cs typeface="Times New Roman" panose="02020603050405020304" pitchFamily="18" charset="0"/>
              </a:rPr>
              <a:t>Jayapriya</a:t>
            </a:r>
            <a:r>
              <a:rPr lang="en-US" sz="1800" dirty="0">
                <a:latin typeface="Roboto" panose="02000000000000000000" pitchFamily="2" charset="0"/>
                <a:ea typeface="Roboto" panose="02000000000000000000" pitchFamily="2" charset="0"/>
                <a:cs typeface="Times New Roman" panose="02020603050405020304" pitchFamily="18" charset="0"/>
              </a:rPr>
              <a:t> and I. J. Jacob, “Hybrid fully convolutional networks-based skin lesion segmentation and melanoma detection using deep feature,” </a:t>
            </a:r>
            <a:r>
              <a:rPr lang="en-US" sz="1800" i="1" dirty="0">
                <a:latin typeface="Roboto" panose="02000000000000000000" pitchFamily="2" charset="0"/>
                <a:ea typeface="Roboto" panose="02000000000000000000" pitchFamily="2" charset="0"/>
                <a:cs typeface="Times New Roman" panose="02020603050405020304" pitchFamily="18" charset="0"/>
              </a:rPr>
              <a:t>Int. J. Imaging Syst. Technol.</a:t>
            </a:r>
            <a:r>
              <a:rPr lang="en-US" sz="1800" dirty="0">
                <a:latin typeface="Roboto" panose="02000000000000000000" pitchFamily="2" charset="0"/>
                <a:ea typeface="Roboto" panose="02000000000000000000" pitchFamily="2" charset="0"/>
                <a:cs typeface="Times New Roman" panose="02020603050405020304" pitchFamily="18" charset="0"/>
              </a:rPr>
              <a:t>, vol. 30, no. 2, pp. 348–357, 2020, </a:t>
            </a:r>
            <a:r>
              <a:rPr lang="en-US" sz="1800" dirty="0" err="1">
                <a:latin typeface="Roboto" panose="02000000000000000000" pitchFamily="2" charset="0"/>
                <a:ea typeface="Roboto" panose="02000000000000000000" pitchFamily="2" charset="0"/>
                <a:cs typeface="Times New Roman" panose="02020603050405020304" pitchFamily="18" charset="0"/>
              </a:rPr>
              <a:t>doi</a:t>
            </a:r>
            <a:r>
              <a:rPr lang="en-US" sz="1800" dirty="0">
                <a:latin typeface="Roboto" panose="02000000000000000000" pitchFamily="2" charset="0"/>
                <a:ea typeface="Roboto" panose="02000000000000000000" pitchFamily="2" charset="0"/>
                <a:cs typeface="Times New Roman" panose="02020603050405020304" pitchFamily="18" charset="0"/>
              </a:rPr>
              <a:t>: 10.1002/ima.22377.</a:t>
            </a:r>
          </a:p>
          <a:p>
            <a:endParaRPr lang="en-US" sz="1800" dirty="0">
              <a:latin typeface="Roboto" panose="02000000000000000000" pitchFamily="2" charset="0"/>
              <a:ea typeface="Roboto" panose="02000000000000000000" pitchFamily="2" charset="0"/>
              <a:cs typeface="Times New Roman" panose="02020603050405020304" pitchFamily="18" charset="0"/>
            </a:endParaRPr>
          </a:p>
          <a:p>
            <a:r>
              <a:rPr lang="en-US" sz="1800" dirty="0">
                <a:latin typeface="Roboto" panose="02000000000000000000" pitchFamily="2" charset="0"/>
                <a:ea typeface="Roboto" panose="02000000000000000000" pitchFamily="2" charset="0"/>
                <a:cs typeface="Times New Roman" panose="02020603050405020304" pitchFamily="18" charset="0"/>
              </a:rPr>
              <a:t>[2]M. A. Kassem, K. M. </a:t>
            </a:r>
            <a:r>
              <a:rPr lang="en-US" sz="1800" dirty="0" err="1">
                <a:latin typeface="Roboto" panose="02000000000000000000" pitchFamily="2" charset="0"/>
                <a:ea typeface="Roboto" panose="02000000000000000000" pitchFamily="2" charset="0"/>
                <a:cs typeface="Times New Roman" panose="02020603050405020304" pitchFamily="18" charset="0"/>
              </a:rPr>
              <a:t>Hosny</a:t>
            </a:r>
            <a:r>
              <a:rPr lang="en-US" sz="1800" dirty="0">
                <a:latin typeface="Roboto" panose="02000000000000000000" pitchFamily="2" charset="0"/>
                <a:ea typeface="Roboto" panose="02000000000000000000" pitchFamily="2" charset="0"/>
                <a:cs typeface="Times New Roman" panose="02020603050405020304" pitchFamily="18" charset="0"/>
              </a:rPr>
              <a:t>, and M. M. Fouad, “Skin Lesions Classification into Eight Classes for ISIC 2019 Using Deep Convolutional Neural Network and Transfer Learning,” </a:t>
            </a:r>
            <a:r>
              <a:rPr lang="en-US" sz="1800" i="1" dirty="0">
                <a:latin typeface="Roboto" panose="02000000000000000000" pitchFamily="2" charset="0"/>
                <a:ea typeface="Roboto" panose="02000000000000000000" pitchFamily="2" charset="0"/>
                <a:cs typeface="Times New Roman" panose="02020603050405020304" pitchFamily="18" charset="0"/>
              </a:rPr>
              <a:t>IEEE Access</a:t>
            </a:r>
            <a:r>
              <a:rPr lang="en-US" sz="1800" dirty="0">
                <a:latin typeface="Roboto" panose="02000000000000000000" pitchFamily="2" charset="0"/>
                <a:ea typeface="Roboto" panose="02000000000000000000" pitchFamily="2" charset="0"/>
                <a:cs typeface="Times New Roman" panose="02020603050405020304" pitchFamily="18" charset="0"/>
              </a:rPr>
              <a:t>, vol. 8, pp. 114822–114832, 2020, </a:t>
            </a:r>
            <a:r>
              <a:rPr lang="en-US" sz="1800" dirty="0" err="1">
                <a:latin typeface="Roboto" panose="02000000000000000000" pitchFamily="2" charset="0"/>
                <a:ea typeface="Roboto" panose="02000000000000000000" pitchFamily="2" charset="0"/>
                <a:cs typeface="Times New Roman" panose="02020603050405020304" pitchFamily="18" charset="0"/>
              </a:rPr>
              <a:t>doi</a:t>
            </a:r>
            <a:r>
              <a:rPr lang="en-US" sz="1800" dirty="0">
                <a:latin typeface="Roboto" panose="02000000000000000000" pitchFamily="2" charset="0"/>
                <a:ea typeface="Roboto" panose="02000000000000000000" pitchFamily="2" charset="0"/>
                <a:cs typeface="Times New Roman" panose="02020603050405020304" pitchFamily="18" charset="0"/>
              </a:rPr>
              <a:t>: 10.1109/ACCESS.2020.3003890.</a:t>
            </a:r>
          </a:p>
          <a:p>
            <a:endParaRPr lang="en-US" sz="1800" dirty="0">
              <a:latin typeface="Roboto" panose="02000000000000000000" pitchFamily="2" charset="0"/>
              <a:ea typeface="Roboto" panose="02000000000000000000" pitchFamily="2" charset="0"/>
              <a:cs typeface="Times New Roman" panose="02020603050405020304" pitchFamily="18" charset="0"/>
            </a:endParaRPr>
          </a:p>
          <a:p>
            <a:r>
              <a:rPr lang="en-US" sz="1800" dirty="0">
                <a:latin typeface="Roboto" panose="02000000000000000000" pitchFamily="2" charset="0"/>
                <a:ea typeface="Roboto" panose="02000000000000000000" pitchFamily="2" charset="0"/>
                <a:cs typeface="Times New Roman" panose="02020603050405020304" pitchFamily="18" charset="0"/>
              </a:rPr>
              <a:t>[3]R. Ashraf </a:t>
            </a:r>
            <a:r>
              <a:rPr lang="en-US" sz="1800" i="1" dirty="0">
                <a:latin typeface="Roboto" panose="02000000000000000000" pitchFamily="2" charset="0"/>
                <a:ea typeface="Roboto" panose="02000000000000000000" pitchFamily="2" charset="0"/>
                <a:cs typeface="Times New Roman" panose="02020603050405020304" pitchFamily="18" charset="0"/>
              </a:rPr>
              <a:t>et al.</a:t>
            </a:r>
            <a:r>
              <a:rPr lang="en-US" sz="1800" dirty="0">
                <a:latin typeface="Roboto" panose="02000000000000000000" pitchFamily="2" charset="0"/>
                <a:ea typeface="Roboto" panose="02000000000000000000" pitchFamily="2" charset="0"/>
                <a:cs typeface="Times New Roman" panose="02020603050405020304" pitchFamily="18" charset="0"/>
              </a:rPr>
              <a:t>, “Region-of-Interest Based Transfer Learning Assisted Framework for Skin Cancer Detection,” </a:t>
            </a:r>
            <a:r>
              <a:rPr lang="en-US" sz="1800" i="1" dirty="0">
                <a:latin typeface="Roboto" panose="02000000000000000000" pitchFamily="2" charset="0"/>
                <a:ea typeface="Roboto" panose="02000000000000000000" pitchFamily="2" charset="0"/>
                <a:cs typeface="Times New Roman" panose="02020603050405020304" pitchFamily="18" charset="0"/>
              </a:rPr>
              <a:t>IEEE Access</a:t>
            </a:r>
            <a:r>
              <a:rPr lang="en-US" sz="1800" dirty="0">
                <a:latin typeface="Roboto" panose="02000000000000000000" pitchFamily="2" charset="0"/>
                <a:ea typeface="Roboto" panose="02000000000000000000" pitchFamily="2" charset="0"/>
                <a:cs typeface="Times New Roman" panose="02020603050405020304" pitchFamily="18" charset="0"/>
              </a:rPr>
              <a:t>, vol. 8, pp. 147858–147871, 2020, </a:t>
            </a:r>
            <a:r>
              <a:rPr lang="en-US" sz="1800" dirty="0" err="1">
                <a:latin typeface="Roboto" panose="02000000000000000000" pitchFamily="2" charset="0"/>
                <a:ea typeface="Roboto" panose="02000000000000000000" pitchFamily="2" charset="0"/>
                <a:cs typeface="Times New Roman" panose="02020603050405020304" pitchFamily="18" charset="0"/>
              </a:rPr>
              <a:t>doi</a:t>
            </a:r>
            <a:r>
              <a:rPr lang="en-US" sz="1800" dirty="0">
                <a:latin typeface="Roboto" panose="02000000000000000000" pitchFamily="2" charset="0"/>
                <a:ea typeface="Roboto" panose="02000000000000000000" pitchFamily="2" charset="0"/>
                <a:cs typeface="Times New Roman" panose="02020603050405020304" pitchFamily="18" charset="0"/>
              </a:rPr>
              <a:t>: 10.1109/ACCESS.2020.3014701.</a:t>
            </a:r>
          </a:p>
          <a:p>
            <a:endParaRPr lang="en-US" sz="1800" dirty="0">
              <a:latin typeface="Roboto" panose="02000000000000000000" pitchFamily="2" charset="0"/>
              <a:ea typeface="Roboto" panose="02000000000000000000" pitchFamily="2" charset="0"/>
              <a:cs typeface="Times New Roman" panose="02020603050405020304" pitchFamily="18" charset="0"/>
            </a:endParaRPr>
          </a:p>
          <a:p>
            <a:r>
              <a:rPr lang="en-US" sz="1800" dirty="0">
                <a:latin typeface="Roboto" panose="02000000000000000000" pitchFamily="2" charset="0"/>
                <a:ea typeface="Roboto" panose="02000000000000000000" pitchFamily="2" charset="0"/>
                <a:cs typeface="Times New Roman" panose="02020603050405020304" pitchFamily="18" charset="0"/>
              </a:rPr>
              <a:t>[4]F. </a:t>
            </a:r>
            <a:r>
              <a:rPr lang="en-US" sz="1800" dirty="0" err="1">
                <a:latin typeface="Roboto" panose="02000000000000000000" pitchFamily="2" charset="0"/>
                <a:ea typeface="Roboto" panose="02000000000000000000" pitchFamily="2" charset="0"/>
                <a:cs typeface="Times New Roman" panose="02020603050405020304" pitchFamily="18" charset="0"/>
              </a:rPr>
              <a:t>Nunnari</a:t>
            </a:r>
            <a:r>
              <a:rPr lang="en-US" sz="1800" dirty="0">
                <a:latin typeface="Roboto" panose="02000000000000000000" pitchFamily="2" charset="0"/>
                <a:ea typeface="Roboto" panose="02000000000000000000" pitchFamily="2" charset="0"/>
                <a:cs typeface="Times New Roman" panose="02020603050405020304" pitchFamily="18" charset="0"/>
              </a:rPr>
              <a:t>, C. </a:t>
            </a:r>
            <a:r>
              <a:rPr lang="en-US" sz="1800" dirty="0" err="1">
                <a:latin typeface="Roboto" panose="02000000000000000000" pitchFamily="2" charset="0"/>
                <a:ea typeface="Roboto" panose="02000000000000000000" pitchFamily="2" charset="0"/>
                <a:cs typeface="Times New Roman" panose="02020603050405020304" pitchFamily="18" charset="0"/>
              </a:rPr>
              <a:t>Bhuvaneshwara</a:t>
            </a:r>
            <a:r>
              <a:rPr lang="en-US" sz="1800" dirty="0">
                <a:latin typeface="Roboto" panose="02000000000000000000" pitchFamily="2" charset="0"/>
                <a:ea typeface="Roboto" panose="02000000000000000000" pitchFamily="2" charset="0"/>
                <a:cs typeface="Times New Roman" panose="02020603050405020304" pitchFamily="18" charset="0"/>
              </a:rPr>
              <a:t>, A. O. </a:t>
            </a:r>
            <a:r>
              <a:rPr lang="en-US" sz="1800" dirty="0" err="1">
                <a:latin typeface="Roboto" panose="02000000000000000000" pitchFamily="2" charset="0"/>
                <a:ea typeface="Roboto" panose="02000000000000000000" pitchFamily="2" charset="0"/>
                <a:cs typeface="Times New Roman" panose="02020603050405020304" pitchFamily="18" charset="0"/>
              </a:rPr>
              <a:t>Ezema</a:t>
            </a:r>
            <a:r>
              <a:rPr lang="en-US" sz="1800" dirty="0">
                <a:latin typeface="Roboto" panose="02000000000000000000" pitchFamily="2" charset="0"/>
                <a:ea typeface="Roboto" panose="02000000000000000000" pitchFamily="2" charset="0"/>
                <a:cs typeface="Times New Roman" panose="02020603050405020304" pitchFamily="18" charset="0"/>
              </a:rPr>
              <a:t>, and D. Sonntag, “A Study on the Fusion of Pixels and Patient Metadata in CNN-Based Classification of Skin Lesion Images,” </a:t>
            </a:r>
            <a:r>
              <a:rPr lang="en-US" sz="1800" i="1" dirty="0">
                <a:latin typeface="Roboto" panose="02000000000000000000" pitchFamily="2" charset="0"/>
                <a:ea typeface="Roboto" panose="02000000000000000000" pitchFamily="2" charset="0"/>
                <a:cs typeface="Times New Roman" panose="02020603050405020304" pitchFamily="18" charset="0"/>
              </a:rPr>
              <a:t>Lect. Notes </a:t>
            </a:r>
            <a:r>
              <a:rPr lang="en-US" sz="1800" i="1" dirty="0" err="1">
                <a:latin typeface="Roboto" panose="02000000000000000000" pitchFamily="2" charset="0"/>
                <a:ea typeface="Roboto" panose="02000000000000000000" pitchFamily="2" charset="0"/>
                <a:cs typeface="Times New Roman" panose="02020603050405020304" pitchFamily="18" charset="0"/>
              </a:rPr>
              <a:t>Comput</a:t>
            </a:r>
            <a:r>
              <a:rPr lang="en-US" sz="1800" i="1" dirty="0">
                <a:latin typeface="Roboto" panose="02000000000000000000" pitchFamily="2" charset="0"/>
                <a:ea typeface="Roboto" panose="02000000000000000000" pitchFamily="2" charset="0"/>
                <a:cs typeface="Times New Roman" panose="02020603050405020304" pitchFamily="18" charset="0"/>
              </a:rPr>
              <a:t>. Sci. (including </a:t>
            </a:r>
            <a:r>
              <a:rPr lang="en-US" sz="1800" i="1" dirty="0" err="1">
                <a:latin typeface="Roboto" panose="02000000000000000000" pitchFamily="2" charset="0"/>
                <a:ea typeface="Roboto" panose="02000000000000000000" pitchFamily="2" charset="0"/>
                <a:cs typeface="Times New Roman" panose="02020603050405020304" pitchFamily="18" charset="0"/>
              </a:rPr>
              <a:t>Subser</a:t>
            </a:r>
            <a:r>
              <a:rPr lang="en-US" sz="1800" i="1" dirty="0">
                <a:latin typeface="Roboto" panose="02000000000000000000" pitchFamily="2" charset="0"/>
                <a:ea typeface="Roboto" panose="02000000000000000000" pitchFamily="2" charset="0"/>
                <a:cs typeface="Times New Roman" panose="02020603050405020304" pitchFamily="18" charset="0"/>
              </a:rPr>
              <a:t>. Lect. Notes </a:t>
            </a:r>
            <a:r>
              <a:rPr lang="en-US" sz="1800" i="1" dirty="0" err="1">
                <a:latin typeface="Roboto" panose="02000000000000000000" pitchFamily="2" charset="0"/>
                <a:ea typeface="Roboto" panose="02000000000000000000" pitchFamily="2" charset="0"/>
                <a:cs typeface="Times New Roman" panose="02020603050405020304" pitchFamily="18" charset="0"/>
              </a:rPr>
              <a:t>Artif</a:t>
            </a:r>
            <a:r>
              <a:rPr lang="en-US" sz="1800" i="1" dirty="0">
                <a:latin typeface="Roboto" panose="02000000000000000000" pitchFamily="2" charset="0"/>
                <a:ea typeface="Roboto" panose="02000000000000000000" pitchFamily="2" charset="0"/>
                <a:cs typeface="Times New Roman" panose="02020603050405020304" pitchFamily="18" charset="0"/>
              </a:rPr>
              <a:t>. </a:t>
            </a:r>
            <a:r>
              <a:rPr lang="en-US" sz="1800" i="1" dirty="0" err="1">
                <a:latin typeface="Roboto" panose="02000000000000000000" pitchFamily="2" charset="0"/>
                <a:ea typeface="Roboto" panose="02000000000000000000" pitchFamily="2" charset="0"/>
                <a:cs typeface="Times New Roman" panose="02020603050405020304" pitchFamily="18" charset="0"/>
              </a:rPr>
              <a:t>Intell</a:t>
            </a:r>
            <a:r>
              <a:rPr lang="en-US" sz="1800" i="1" dirty="0">
                <a:latin typeface="Roboto" panose="02000000000000000000" pitchFamily="2" charset="0"/>
                <a:ea typeface="Roboto" panose="02000000000000000000" pitchFamily="2" charset="0"/>
                <a:cs typeface="Times New Roman" panose="02020603050405020304" pitchFamily="18" charset="0"/>
              </a:rPr>
              <a:t>. Lect. Notes Bioinformatics)</a:t>
            </a:r>
            <a:r>
              <a:rPr lang="en-US" sz="1800" dirty="0">
                <a:latin typeface="Roboto" panose="02000000000000000000" pitchFamily="2" charset="0"/>
                <a:ea typeface="Roboto" panose="02000000000000000000" pitchFamily="2" charset="0"/>
                <a:cs typeface="Times New Roman" panose="02020603050405020304" pitchFamily="18" charset="0"/>
              </a:rPr>
              <a:t>, vol. 12279 LNCS, pp. 191–208, 2020, </a:t>
            </a:r>
            <a:r>
              <a:rPr lang="en-US" sz="1800" dirty="0" err="1">
                <a:latin typeface="Roboto" panose="02000000000000000000" pitchFamily="2" charset="0"/>
                <a:ea typeface="Roboto" panose="02000000000000000000" pitchFamily="2" charset="0"/>
                <a:cs typeface="Times New Roman" panose="02020603050405020304" pitchFamily="18" charset="0"/>
              </a:rPr>
              <a:t>doi</a:t>
            </a:r>
            <a:r>
              <a:rPr lang="en-US" sz="1800" dirty="0">
                <a:latin typeface="Roboto" panose="02000000000000000000" pitchFamily="2" charset="0"/>
                <a:ea typeface="Roboto" panose="02000000000000000000" pitchFamily="2" charset="0"/>
                <a:cs typeface="Times New Roman" panose="02020603050405020304" pitchFamily="18" charset="0"/>
              </a:rPr>
              <a:t>: 10.1007/978-3-030-57321-8_11.</a:t>
            </a:r>
          </a:p>
          <a:p>
            <a:endParaRPr lang="en-US" sz="1800" dirty="0">
              <a:latin typeface="Roboto" panose="02000000000000000000" pitchFamily="2" charset="0"/>
              <a:ea typeface="Roboto" panose="02000000000000000000" pitchFamily="2" charset="0"/>
              <a:cs typeface="Times New Roman" panose="02020603050405020304" pitchFamily="18" charset="0"/>
            </a:endParaRPr>
          </a:p>
          <a:p>
            <a:r>
              <a:rPr lang="en-US" sz="1800" dirty="0">
                <a:latin typeface="Roboto" panose="02000000000000000000" pitchFamily="2" charset="0"/>
                <a:ea typeface="Roboto" panose="02000000000000000000" pitchFamily="2" charset="0"/>
                <a:cs typeface="Times New Roman" panose="02020603050405020304" pitchFamily="18" charset="0"/>
              </a:rPr>
              <a:t>[5]A. </a:t>
            </a:r>
            <a:r>
              <a:rPr lang="en-US" sz="1800" dirty="0" err="1">
                <a:latin typeface="Roboto" panose="02000000000000000000" pitchFamily="2" charset="0"/>
                <a:ea typeface="Roboto" panose="02000000000000000000" pitchFamily="2" charset="0"/>
                <a:cs typeface="Times New Roman" panose="02020603050405020304" pitchFamily="18" charset="0"/>
              </a:rPr>
              <a:t>Astorino</a:t>
            </a:r>
            <a:r>
              <a:rPr lang="en-US" sz="1800" dirty="0">
                <a:latin typeface="Roboto" panose="02000000000000000000" pitchFamily="2" charset="0"/>
                <a:ea typeface="Roboto" panose="02000000000000000000" pitchFamily="2" charset="0"/>
                <a:cs typeface="Times New Roman" panose="02020603050405020304" pitchFamily="18" charset="0"/>
              </a:rPr>
              <a:t>, A. </a:t>
            </a:r>
            <a:r>
              <a:rPr lang="en-US" sz="1800" dirty="0" err="1">
                <a:latin typeface="Roboto" panose="02000000000000000000" pitchFamily="2" charset="0"/>
                <a:ea typeface="Roboto" panose="02000000000000000000" pitchFamily="2" charset="0"/>
                <a:cs typeface="Times New Roman" panose="02020603050405020304" pitchFamily="18" charset="0"/>
              </a:rPr>
              <a:t>Fuduli</a:t>
            </a:r>
            <a:r>
              <a:rPr lang="en-US" sz="1800" dirty="0">
                <a:latin typeface="Roboto" panose="02000000000000000000" pitchFamily="2" charset="0"/>
                <a:ea typeface="Roboto" panose="02000000000000000000" pitchFamily="2" charset="0"/>
                <a:cs typeface="Times New Roman" panose="02020603050405020304" pitchFamily="18" charset="0"/>
              </a:rPr>
              <a:t>, P. </a:t>
            </a:r>
            <a:r>
              <a:rPr lang="en-US" sz="1800" dirty="0" err="1">
                <a:latin typeface="Roboto" panose="02000000000000000000" pitchFamily="2" charset="0"/>
                <a:ea typeface="Roboto" panose="02000000000000000000" pitchFamily="2" charset="0"/>
                <a:cs typeface="Times New Roman" panose="02020603050405020304" pitchFamily="18" charset="0"/>
              </a:rPr>
              <a:t>Veltri</a:t>
            </a:r>
            <a:r>
              <a:rPr lang="en-US" sz="1800" dirty="0">
                <a:latin typeface="Roboto" panose="02000000000000000000" pitchFamily="2" charset="0"/>
                <a:ea typeface="Roboto" panose="02000000000000000000" pitchFamily="2" charset="0"/>
                <a:cs typeface="Times New Roman" panose="02020603050405020304" pitchFamily="18" charset="0"/>
              </a:rPr>
              <a:t>, and E. </a:t>
            </a:r>
            <a:r>
              <a:rPr lang="en-US" sz="1800" dirty="0" err="1">
                <a:latin typeface="Roboto" panose="02000000000000000000" pitchFamily="2" charset="0"/>
                <a:ea typeface="Roboto" panose="02000000000000000000" pitchFamily="2" charset="0"/>
                <a:cs typeface="Times New Roman" panose="02020603050405020304" pitchFamily="18" charset="0"/>
              </a:rPr>
              <a:t>Vocaturo</a:t>
            </a:r>
            <a:r>
              <a:rPr lang="en-US" sz="1800" dirty="0">
                <a:latin typeface="Roboto" panose="02000000000000000000" pitchFamily="2" charset="0"/>
                <a:ea typeface="Roboto" panose="02000000000000000000" pitchFamily="2" charset="0"/>
                <a:cs typeface="Times New Roman" panose="02020603050405020304" pitchFamily="18" charset="0"/>
              </a:rPr>
              <a:t>, “Melanoma Detection by Means of Multiple Instance Learning,” </a:t>
            </a:r>
            <a:r>
              <a:rPr lang="en-US" sz="1800" i="1" dirty="0" err="1">
                <a:latin typeface="Roboto" panose="02000000000000000000" pitchFamily="2" charset="0"/>
                <a:ea typeface="Roboto" panose="02000000000000000000" pitchFamily="2" charset="0"/>
                <a:cs typeface="Times New Roman" panose="02020603050405020304" pitchFamily="18" charset="0"/>
              </a:rPr>
              <a:t>Interdiscip</a:t>
            </a:r>
            <a:r>
              <a:rPr lang="en-US" sz="1800" i="1" dirty="0">
                <a:latin typeface="Roboto" panose="02000000000000000000" pitchFamily="2" charset="0"/>
                <a:ea typeface="Roboto" panose="02000000000000000000" pitchFamily="2" charset="0"/>
                <a:cs typeface="Times New Roman" panose="02020603050405020304" pitchFamily="18" charset="0"/>
              </a:rPr>
              <a:t>. Sci. </a:t>
            </a:r>
            <a:r>
              <a:rPr lang="en-US" sz="1800" i="1" dirty="0" err="1">
                <a:latin typeface="Roboto" panose="02000000000000000000" pitchFamily="2" charset="0"/>
                <a:ea typeface="Roboto" panose="02000000000000000000" pitchFamily="2" charset="0"/>
                <a:cs typeface="Times New Roman" panose="02020603050405020304" pitchFamily="18" charset="0"/>
              </a:rPr>
              <a:t>Comput</a:t>
            </a:r>
            <a:r>
              <a:rPr lang="en-US" sz="1800" i="1" dirty="0">
                <a:latin typeface="Roboto" panose="02000000000000000000" pitchFamily="2" charset="0"/>
                <a:ea typeface="Roboto" panose="02000000000000000000" pitchFamily="2" charset="0"/>
                <a:cs typeface="Times New Roman" panose="02020603050405020304" pitchFamily="18" charset="0"/>
              </a:rPr>
              <a:t>. Life Sci.</a:t>
            </a:r>
            <a:r>
              <a:rPr lang="en-US" sz="1800" dirty="0">
                <a:latin typeface="Roboto" panose="02000000000000000000" pitchFamily="2" charset="0"/>
                <a:ea typeface="Roboto" panose="02000000000000000000" pitchFamily="2" charset="0"/>
                <a:cs typeface="Times New Roman" panose="02020603050405020304" pitchFamily="18" charset="0"/>
              </a:rPr>
              <a:t>, vol. 12, no. 1, pp. 24–31, 2020, </a:t>
            </a:r>
            <a:r>
              <a:rPr lang="en-US" sz="1800" dirty="0" err="1">
                <a:latin typeface="Roboto" panose="02000000000000000000" pitchFamily="2" charset="0"/>
                <a:ea typeface="Roboto" panose="02000000000000000000" pitchFamily="2" charset="0"/>
                <a:cs typeface="Times New Roman" panose="02020603050405020304" pitchFamily="18" charset="0"/>
              </a:rPr>
              <a:t>doi</a:t>
            </a:r>
            <a:r>
              <a:rPr lang="en-US" sz="1800" dirty="0">
                <a:latin typeface="Roboto" panose="02000000000000000000" pitchFamily="2" charset="0"/>
                <a:ea typeface="Roboto" panose="02000000000000000000" pitchFamily="2" charset="0"/>
                <a:cs typeface="Times New Roman" panose="02020603050405020304" pitchFamily="18" charset="0"/>
              </a:rPr>
              <a:t>: 10.1007/s12539-019-00341-y.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303978"/>
            <a:ext cx="7825502" cy="978218"/>
          </a:xfrm>
          <a:prstGeom prst="rect">
            <a:avLst/>
          </a:prstGeom>
          <a:noFill/>
          <a:ln/>
        </p:spPr>
        <p:txBody>
          <a:bodyPr wrap="none" lIns="0" tIns="0" rIns="0" bIns="0" rtlCol="0" anchor="t"/>
          <a:lstStyle/>
          <a:p>
            <a:pPr marL="0" indent="0" algn="l">
              <a:lnSpc>
                <a:spcPts val="7700"/>
              </a:lnSpc>
              <a:buNone/>
            </a:pPr>
            <a:r>
              <a:rPr lang="en-US" sz="6150" dirty="0">
                <a:solidFill>
                  <a:srgbClr val="1B1B27"/>
                </a:solidFill>
                <a:latin typeface="Raleway" pitchFamily="34" charset="0"/>
                <a:ea typeface="Raleway" pitchFamily="34" charset="-122"/>
                <a:cs typeface="Raleway" pitchFamily="34" charset="-120"/>
              </a:rPr>
              <a:t>Thank You</a:t>
            </a:r>
            <a:endParaRPr lang="en-US" sz="6150" dirty="0"/>
          </a:p>
        </p:txBody>
      </p:sp>
      <p:sp>
        <p:nvSpPr>
          <p:cNvPr id="3" name="Text 1"/>
          <p:cNvSpPr/>
          <p:nvPr/>
        </p:nvSpPr>
        <p:spPr>
          <a:xfrm>
            <a:off x="793790" y="362235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Questions &amp; Discussion Welcome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1103</Words>
  <Application>Microsoft Office PowerPoint</Application>
  <PresentationFormat>Custom</PresentationFormat>
  <Paragraphs>144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Raleway</vt:lpstr>
      <vt:lpstr>Raleway Light</vt: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Amin, Saiful</cp:lastModifiedBy>
  <cp:revision>7</cp:revision>
  <dcterms:created xsi:type="dcterms:W3CDTF">2026-04-20T22:17:12Z</dcterms:created>
  <dcterms:modified xsi:type="dcterms:W3CDTF">2026-04-23T20:53:00Z</dcterms:modified>
</cp:coreProperties>
</file>